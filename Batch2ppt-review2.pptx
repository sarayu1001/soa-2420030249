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2" r:id="rId2"/>
    <p:sldId id="263" r:id="rId3"/>
    <p:sldId id="264" r:id="rId4"/>
    <p:sldId id="265" r:id="rId5"/>
    <p:sldId id="266" r:id="rId6"/>
    <p:sldId id="267" r:id="rId7"/>
    <p:sldId id="268" r:id="rId8"/>
    <p:sldId id="269" r:id="rId9"/>
    <p:sldId id="27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DC9F75-95D8-40C0-8CD3-6E2D0FAE8F9B}" v="15" dt="2026-09-24T08:03:11.5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111" autoAdjust="0"/>
  </p:normalViewPr>
  <p:slideViewPr>
    <p:cSldViewPr snapToGrid="0">
      <p:cViewPr varScale="1">
        <p:scale>
          <a:sx n="75" d="100"/>
          <a:sy n="75" d="100"/>
        </p:scale>
        <p:origin x="97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itha Manduri" userId="034c70c2d5155c9d" providerId="LiveId" clId="{559CA8F6-37FB-420B-9630-7912C6D0DF0F}"/>
    <pc:docChg chg="modSld sldOrd">
      <pc:chgData name="Varshitha Manduri" userId="034c70c2d5155c9d" providerId="LiveId" clId="{559CA8F6-37FB-420B-9630-7912C6D0DF0F}" dt="2026-09-24T08:03:15.228" v="25" actId="1076"/>
      <pc:docMkLst>
        <pc:docMk/>
      </pc:docMkLst>
      <pc:sldChg chg="modSp mod">
        <pc:chgData name="Varshitha Manduri" userId="034c70c2d5155c9d" providerId="LiveId" clId="{559CA8F6-37FB-420B-9630-7912C6D0DF0F}" dt="2026-09-24T08:03:15.228" v="25" actId="1076"/>
        <pc:sldMkLst>
          <pc:docMk/>
          <pc:sldMk cId="2247602601" sldId="262"/>
        </pc:sldMkLst>
        <pc:spChg chg="mod">
          <ac:chgData name="Varshitha Manduri" userId="034c70c2d5155c9d" providerId="LiveId" clId="{559CA8F6-37FB-420B-9630-7912C6D0DF0F}" dt="2026-09-24T08:03:15.228" v="25" actId="1076"/>
          <ac:spMkLst>
            <pc:docMk/>
            <pc:sldMk cId="2247602601" sldId="262"/>
            <ac:spMk id="14" creationId="{DD4CF64F-3FB6-0CE4-B778-63C5D5A1D343}"/>
          </ac:spMkLst>
        </pc:spChg>
      </pc:sldChg>
      <pc:sldChg chg="modNotesTx">
        <pc:chgData name="Varshitha Manduri" userId="034c70c2d5155c9d" providerId="LiveId" clId="{559CA8F6-37FB-420B-9630-7912C6D0DF0F}" dt="2026-09-24T07:36:24.923" v="4" actId="20577"/>
        <pc:sldMkLst>
          <pc:docMk/>
          <pc:sldMk cId="3604800266" sldId="265"/>
        </pc:sldMkLst>
      </pc:sldChg>
      <pc:sldChg chg="modSp mod">
        <pc:chgData name="Varshitha Manduri" userId="034c70c2d5155c9d" providerId="LiveId" clId="{559CA8F6-37FB-420B-9630-7912C6D0DF0F}" dt="2026-09-24T07:56:40.188" v="23" actId="20577"/>
        <pc:sldMkLst>
          <pc:docMk/>
          <pc:sldMk cId="2203746715" sldId="266"/>
        </pc:sldMkLst>
        <pc:spChg chg="mod">
          <ac:chgData name="Varshitha Manduri" userId="034c70c2d5155c9d" providerId="LiveId" clId="{559CA8F6-37FB-420B-9630-7912C6D0DF0F}" dt="2026-09-24T07:56:40.188" v="23" actId="20577"/>
          <ac:spMkLst>
            <pc:docMk/>
            <pc:sldMk cId="2203746715" sldId="266"/>
            <ac:spMk id="5" creationId="{FC205907-9909-2ADE-8D8D-3E8C45B19CA3}"/>
          </ac:spMkLst>
        </pc:spChg>
      </pc:sldChg>
      <pc:sldChg chg="ord">
        <pc:chgData name="Varshitha Manduri" userId="034c70c2d5155c9d" providerId="LiveId" clId="{559CA8F6-37FB-420B-9630-7912C6D0DF0F}" dt="2026-09-24T07:39:25.095" v="6"/>
        <pc:sldMkLst>
          <pc:docMk/>
          <pc:sldMk cId="4245051391" sldId="267"/>
        </pc:sldMkLst>
      </pc:sldChg>
      <pc:sldChg chg="ord">
        <pc:chgData name="Varshitha Manduri" userId="034c70c2d5155c9d" providerId="LiveId" clId="{559CA8F6-37FB-420B-9630-7912C6D0DF0F}" dt="2026-09-24T07:39:25.863" v="8"/>
        <pc:sldMkLst>
          <pc:docMk/>
          <pc:sldMk cId="1501611015"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Fixora</a:t>
            </a:r>
            <a:r>
              <a:rPr lang="en-US" dirty="0"/>
              <a:t> follows a layered architecture.</a:t>
            </a:r>
          </a:p>
          <a:p>
            <a:endParaRPr lang="en-US" dirty="0"/>
          </a:p>
          <a:p>
            <a:r>
              <a:rPr lang="en-US" dirty="0"/>
              <a:t>The first layer is the User Interface Layer, where customers can describe their problem, view recommended providers, book services, and track their service status.</a:t>
            </a:r>
          </a:p>
          <a:p>
            <a:endParaRPr lang="en-US" dirty="0"/>
          </a:p>
          <a:p>
            <a:r>
              <a:rPr lang="en-US" dirty="0"/>
              <a:t>The second is the Service and Intelligence Layer. This contains authentication, service request processing, AI-based problem analysis, provider matching, booking and scheduling.</a:t>
            </a:r>
          </a:p>
          <a:p>
            <a:endParaRPr lang="en-US" dirty="0"/>
          </a:p>
          <a:p>
            <a:r>
              <a:rPr lang="en-US" dirty="0"/>
              <a:t>The third is the Data and Event Layer, where PostgreSQL is used for storing application data and REST APIs are used for communication. Apache Kafka is planned for event-driven communication.</a:t>
            </a:r>
          </a:p>
          <a:p>
            <a:endParaRPr lang="en-US" dirty="0"/>
          </a:p>
          <a:p>
            <a:r>
              <a:rPr lang="en-US" dirty="0"/>
              <a:t>The main design goal is to make the system modular and scalable.</a:t>
            </a:r>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2</a:t>
            </a:fld>
            <a:endParaRPr lang="en-US"/>
          </a:p>
        </p:txBody>
      </p:sp>
    </p:spTree>
    <p:extLst>
      <p:ext uri="{BB962C8B-B14F-4D97-AF65-F5344CB8AC3E}">
        <p14:creationId xmlns:p14="http://schemas.microsoft.com/office/powerpoint/2010/main" val="2270802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starts with the customer interacting with the React frontend.</a:t>
            </a:r>
          </a:p>
          <a:p>
            <a:endParaRPr lang="en-US" dirty="0"/>
          </a:p>
          <a:p>
            <a:r>
              <a:rPr lang="en-US" dirty="0"/>
              <a:t>The request is sent to the Spring Boot backend through REST APIs.</a:t>
            </a:r>
          </a:p>
          <a:p>
            <a:endParaRPr lang="en-US" dirty="0"/>
          </a:p>
          <a:p>
            <a:r>
              <a:rPr lang="en-US" dirty="0"/>
              <a:t>The AI service analyzes the customer's natural-language problem and identifies the required service category.</a:t>
            </a:r>
          </a:p>
          <a:p>
            <a:endParaRPr lang="en-US" dirty="0"/>
          </a:p>
          <a:p>
            <a:r>
              <a:rPr lang="en-US" dirty="0"/>
              <a:t>Based on this category and location, </a:t>
            </a:r>
            <a:r>
              <a:rPr lang="en-US" dirty="0" err="1"/>
              <a:t>Fixora</a:t>
            </a:r>
            <a:r>
              <a:rPr lang="en-US" dirty="0"/>
              <a:t> finds suitable service providers.</a:t>
            </a:r>
          </a:p>
          <a:p>
            <a:endParaRPr lang="en-US" dirty="0"/>
          </a:p>
          <a:p>
            <a:r>
              <a:rPr lang="en-US" dirty="0"/>
              <a:t>The customer can then select a provider, schedule the service, and track the request.</a:t>
            </a:r>
          </a:p>
          <a:p>
            <a:endParaRPr lang="en-US" dirty="0"/>
          </a:p>
          <a:p>
            <a:r>
              <a:rPr lang="en-US" dirty="0"/>
              <a:t>Authentication is handled using Spring Security and JWT.</a:t>
            </a:r>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3</a:t>
            </a:fld>
            <a:endParaRPr lang="en-US"/>
          </a:p>
        </p:txBody>
      </p:sp>
    </p:spTree>
    <p:extLst>
      <p:ext uri="{BB962C8B-B14F-4D97-AF65-F5344CB8AC3E}">
        <p14:creationId xmlns:p14="http://schemas.microsoft.com/office/powerpoint/2010/main" val="1565218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has different components, each with a specific role.</a:t>
            </a:r>
          </a:p>
          <a:p>
            <a:r>
              <a:rPr lang="en-US" dirty="0"/>
              <a:t>React handles the user interface, while Spring Boot manages requests and backend services.</a:t>
            </a:r>
          </a:p>
          <a:p>
            <a:r>
              <a:rPr lang="en-US" dirty="0"/>
              <a:t>AI analyzes customer problems and recommends suitable services and providers.</a:t>
            </a:r>
          </a:p>
          <a:p>
            <a:r>
              <a:rPr lang="en-US" dirty="0"/>
              <a:t>PostgreSQL stores users, providers, requests and bookings.</a:t>
            </a:r>
          </a:p>
          <a:p>
            <a:r>
              <a:rPr lang="en-US" dirty="0"/>
              <a:t>JWT and Spring Security provide secure role-based access, and Kafka supports event-based communication.</a:t>
            </a:r>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4</a:t>
            </a:fld>
            <a:endParaRPr lang="en-US"/>
          </a:p>
        </p:txBody>
      </p:sp>
    </p:spTree>
    <p:extLst>
      <p:ext uri="{BB962C8B-B14F-4D97-AF65-F5344CB8AC3E}">
        <p14:creationId xmlns:p14="http://schemas.microsoft.com/office/powerpoint/2010/main" val="3831127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consists of five main stages.</a:t>
            </a:r>
          </a:p>
          <a:p>
            <a:endParaRPr lang="en-US" dirty="0"/>
          </a:p>
          <a:p>
            <a:r>
              <a:rPr lang="en-US" dirty="0"/>
              <a:t>Requirement Analysis – Identify customer and provider requirements.</a:t>
            </a:r>
          </a:p>
          <a:p>
            <a:r>
              <a:rPr lang="en-US" dirty="0"/>
              <a:t>System Design – Design the architecture, database and APIs.</a:t>
            </a:r>
          </a:p>
          <a:p>
            <a:r>
              <a:rPr lang="en-US" dirty="0"/>
              <a:t>Service Development – Develop the frontend, backend, provider, booking and request services.</a:t>
            </a:r>
          </a:p>
          <a:p>
            <a:r>
              <a:rPr lang="en-US" dirty="0"/>
              <a:t>AI &amp; Event Integration – Integrate AI-based problem analysis and event-driven communication.</a:t>
            </a:r>
          </a:p>
          <a:p>
            <a:r>
              <a:rPr lang="en-US"/>
              <a:t>Testing &amp; Deployment – Test the complete workflow and prepare the system for deployment.</a:t>
            </a:r>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5</a:t>
            </a:fld>
            <a:endParaRPr lang="en-US"/>
          </a:p>
        </p:txBody>
      </p:sp>
    </p:spTree>
    <p:extLst>
      <p:ext uri="{BB962C8B-B14F-4D97-AF65-F5344CB8AC3E}">
        <p14:creationId xmlns:p14="http://schemas.microsoft.com/office/powerpoint/2010/main" val="2555868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then describes the home repair problem in natural language.</a:t>
            </a:r>
          </a:p>
          <a:p>
            <a:endParaRPr lang="en-US" dirty="0"/>
          </a:p>
          <a:p>
            <a:r>
              <a:rPr lang="en-US" dirty="0" err="1"/>
              <a:t>Fixora's</a:t>
            </a:r>
            <a:r>
              <a:rPr lang="en-US" dirty="0"/>
              <a:t> AI analyzes the problem and identifies the service category.</a:t>
            </a:r>
          </a:p>
          <a:p>
            <a:endParaRPr lang="en-US" dirty="0"/>
          </a:p>
          <a:p>
            <a:r>
              <a:rPr lang="en-US" dirty="0"/>
              <a:t>The system then recommends suitable providers.</a:t>
            </a:r>
          </a:p>
          <a:p>
            <a:endParaRPr lang="en-US" dirty="0"/>
          </a:p>
          <a:p>
            <a:r>
              <a:rPr lang="en-US" dirty="0"/>
              <a:t>If multiple providers are available, the customer can select the preferred provider.</a:t>
            </a:r>
          </a:p>
          <a:p>
            <a:endParaRPr lang="en-US" dirty="0"/>
          </a:p>
          <a:p>
            <a:r>
              <a:rPr lang="en-US" dirty="0"/>
              <a:t>The service can then be scheduled.</a:t>
            </a:r>
          </a:p>
          <a:p>
            <a:endParaRPr lang="en-US" dirty="0"/>
          </a:p>
          <a:p>
            <a:r>
              <a:rPr lang="en-US" dirty="0"/>
              <a:t>The provider receives the request and updates its status.</a:t>
            </a:r>
          </a:p>
          <a:p>
            <a:endParaRPr lang="en-US" dirty="0"/>
          </a:p>
          <a:p>
            <a:r>
              <a:rPr lang="en-US" dirty="0"/>
              <a:t>The customer can track the status until the service is completed.</a:t>
            </a:r>
          </a:p>
          <a:p>
            <a:endParaRPr lang="en-US" dirty="0"/>
          </a:p>
          <a:p>
            <a:r>
              <a:rPr lang="en-US" dirty="0"/>
              <a:t>Finally, the completed request is stored in the service history.</a:t>
            </a:r>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6</a:t>
            </a:fld>
            <a:endParaRPr lang="en-US"/>
          </a:p>
        </p:txBody>
      </p:sp>
    </p:spTree>
    <p:extLst>
      <p:ext uri="{BB962C8B-B14F-4D97-AF65-F5344CB8AC3E}">
        <p14:creationId xmlns:p14="http://schemas.microsoft.com/office/powerpoint/2010/main" val="3018391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We use React for the frontend and Spring Boot for the backend. Spring Cloud, API Gateway and Eureka manage the microservices. Spring AI and LLM APIs provide recommendations, Kafka handles messaging, PostgreSQL stores data, and Docker is used for deployment.</a:t>
            </a:r>
          </a:p>
        </p:txBody>
      </p:sp>
      <p:sp>
        <p:nvSpPr>
          <p:cNvPr id="4" name="Slide Number Placeholder 3"/>
          <p:cNvSpPr>
            <a:spLocks noGrp="1"/>
          </p:cNvSpPr>
          <p:nvPr>
            <p:ph type="sldNum" sz="quarter" idx="5"/>
          </p:nvPr>
        </p:nvSpPr>
        <p:spPr/>
        <p:txBody>
          <a:bodyPr/>
          <a:lstStyle/>
          <a:p>
            <a:fld id="{9F19044B-B5AF-477C-950C-4ED51263438D}" type="slidenum">
              <a:rPr lang="en-US" smtClean="0"/>
              <a:t>7</a:t>
            </a:fld>
            <a:endParaRPr lang="en-US"/>
          </a:p>
        </p:txBody>
      </p:sp>
    </p:spTree>
    <p:extLst>
      <p:ext uri="{BB962C8B-B14F-4D97-AF65-F5344CB8AC3E}">
        <p14:creationId xmlns:p14="http://schemas.microsoft.com/office/powerpoint/2010/main" val="2618433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“Our project follows a step-by-step methodology. First, we identify customer and service provider requirements and design the microservices architecture.</a:t>
            </a:r>
          </a:p>
          <a:p>
            <a:r>
              <a:rPr lang="en-IN" dirty="0"/>
              <a:t>Next, we develop independent services using Spring Boot for bookings, provider management and notifications. We integrate Spring AI for problem analysis and recommendations, and Kafka for communication between services.</a:t>
            </a:r>
          </a:p>
          <a:p>
            <a:r>
              <a:rPr lang="en-IN" dirty="0"/>
              <a:t>Finally, we implement JWT-based security, test each service and the complete workflow, and use Docker for deployment.”</a:t>
            </a:r>
          </a:p>
        </p:txBody>
      </p:sp>
      <p:sp>
        <p:nvSpPr>
          <p:cNvPr id="4" name="Slide Number Placeholder 3"/>
          <p:cNvSpPr>
            <a:spLocks noGrp="1"/>
          </p:cNvSpPr>
          <p:nvPr>
            <p:ph type="sldNum" sz="quarter" idx="5"/>
          </p:nvPr>
        </p:nvSpPr>
        <p:spPr/>
        <p:txBody>
          <a:bodyPr/>
          <a:lstStyle/>
          <a:p>
            <a:fld id="{9F19044B-B5AF-477C-950C-4ED51263438D}" type="slidenum">
              <a:rPr lang="en-US" smtClean="0"/>
              <a:t>8</a:t>
            </a:fld>
            <a:endParaRPr lang="en-US"/>
          </a:p>
        </p:txBody>
      </p:sp>
    </p:spTree>
    <p:extLst>
      <p:ext uri="{BB962C8B-B14F-4D97-AF65-F5344CB8AC3E}">
        <p14:creationId xmlns:p14="http://schemas.microsoft.com/office/powerpoint/2010/main" val="1719385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pSp>
        <p:nvGrpSpPr>
          <p:cNvPr id="21" name="Group 20">
            <a:extLst>
              <a:ext uri="{FF2B5EF4-FFF2-40B4-BE49-F238E27FC236}">
                <a16:creationId xmlns:a16="http://schemas.microsoft.com/office/drawing/2014/main" id="{B5A8CA37-C090-A9D8-75D0-A7A7D5DEBE24}"/>
              </a:ext>
            </a:extLst>
          </p:cNvPr>
          <p:cNvGrpSpPr/>
          <p:nvPr/>
        </p:nvGrpSpPr>
        <p:grpSpPr>
          <a:xfrm>
            <a:off x="8283235" y="38947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725810072"/>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615636" y="724628"/>
            <a:ext cx="10715625" cy="1754326"/>
          </a:xfrm>
          <a:prstGeom prst="rect">
            <a:avLst/>
          </a:prstGeom>
          <a:noFill/>
        </p:spPr>
        <p:txBody>
          <a:bodyPr wrap="square">
            <a:spAutoFit/>
          </a:bodyPr>
          <a:lstStyle/>
          <a:p>
            <a:pPr lvl="1" algn="ctr">
              <a:defRPr/>
            </a:pPr>
            <a:r>
              <a:rPr lang="en-IN" sz="3600" dirty="0" err="1">
                <a:solidFill>
                  <a:schemeClr val="bg1"/>
                </a:solidFill>
              </a:rPr>
              <a:t>Fixora</a:t>
            </a:r>
            <a:r>
              <a:rPr lang="en-IN" sz="3600" dirty="0">
                <a:solidFill>
                  <a:schemeClr val="bg1"/>
                </a:solidFill>
              </a:rPr>
              <a:t> AI – An Intelligent Home Repair and Service Discovery &amp; Coordination Engine</a:t>
            </a:r>
          </a:p>
          <a:p>
            <a:pPr lvl="1" algn="ctr">
              <a:defRPr/>
            </a:pPr>
            <a:endParaRPr lang="en-US" sz="3600" dirty="0">
              <a:solidFill>
                <a:schemeClr val="bg1"/>
              </a:solidFill>
              <a:latin typeface="Calibri" panose="020F0502020204030204"/>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Review-2</a:t>
            </a:r>
          </a:p>
        </p:txBody>
      </p:sp>
      <p:sp>
        <p:nvSpPr>
          <p:cNvPr id="3" name="TextBox 2">
            <a:extLst>
              <a:ext uri="{FF2B5EF4-FFF2-40B4-BE49-F238E27FC236}">
                <a16:creationId xmlns:a16="http://schemas.microsoft.com/office/drawing/2014/main" id="{A9FC1A3D-B31A-C7D9-456D-C926EE302410}"/>
              </a:ext>
            </a:extLst>
          </p:cNvPr>
          <p:cNvSpPr txBox="1"/>
          <p:nvPr/>
        </p:nvSpPr>
        <p:spPr>
          <a:xfrm>
            <a:off x="738187" y="4651739"/>
            <a:ext cx="6494206" cy="1302921"/>
          </a:xfrm>
          <a:prstGeom prst="rect">
            <a:avLst/>
          </a:prstGeom>
          <a:noFill/>
        </p:spPr>
        <p:txBody>
          <a:bodyPr wrap="square">
            <a:spAutoFit/>
          </a:bodyPr>
          <a:lstStyle/>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Dr.Neelima</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 Gogineni</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SOA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a:t>
            </a:r>
            <a:r>
              <a:rPr lang="en-US" sz="1400" dirty="0" err="1">
                <a:solidFill>
                  <a:schemeClr val="dk1"/>
                </a:solidFill>
                <a:latin typeface="Times New Roman" panose="02020603050405020304" pitchFamily="18" charset="0"/>
                <a:ea typeface="Cambria"/>
                <a:cs typeface="Times New Roman" panose="02020603050405020304" pitchFamily="18" charset="0"/>
                <a:sym typeface="Cambria"/>
              </a:rPr>
              <a:t>Bowrampet</a:t>
            </a: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p:txBody>
      </p:sp>
      <p:graphicFrame>
        <p:nvGraphicFramePr>
          <p:cNvPr id="9" name="Table 8">
            <a:extLst>
              <a:ext uri="{FF2B5EF4-FFF2-40B4-BE49-F238E27FC236}">
                <a16:creationId xmlns:a16="http://schemas.microsoft.com/office/drawing/2014/main" id="{CE4D9714-CE1A-97A3-E21C-4587623E6234}"/>
              </a:ext>
            </a:extLst>
          </p:cNvPr>
          <p:cNvGraphicFramePr>
            <a:graphicFrameLocks noGrp="1"/>
          </p:cNvGraphicFramePr>
          <p:nvPr>
            <p:extLst>
              <p:ext uri="{D42A27DB-BD31-4B8C-83A1-F6EECF244321}">
                <p14:modId xmlns:p14="http://schemas.microsoft.com/office/powerpoint/2010/main" val="4085049450"/>
              </p:ext>
            </p:extLst>
          </p:nvPr>
        </p:nvGraphicFramePr>
        <p:xfrm>
          <a:off x="8398355" y="4113530"/>
          <a:ext cx="3702050" cy="2607945"/>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 : </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err="1">
                          <a:solidFill>
                            <a:schemeClr val="tx1"/>
                          </a:solidFill>
                          <a:latin typeface="Times New Roman" panose="02020603050405020304" pitchFamily="18" charset="0"/>
                          <a:cs typeface="Times New Roman" panose="02020603050405020304" pitchFamily="18" charset="0"/>
                        </a:rPr>
                        <a:t>Anakala</a:t>
                      </a:r>
                      <a:r>
                        <a:rPr lang="en-IN" sz="1600" b="1" dirty="0">
                          <a:solidFill>
                            <a:schemeClr val="tx1"/>
                          </a:solidFill>
                          <a:latin typeface="Times New Roman" panose="02020603050405020304" pitchFamily="18" charset="0"/>
                          <a:cs typeface="Times New Roman" panose="02020603050405020304" pitchFamily="18" charset="0"/>
                        </a:rPr>
                        <a:t> Sarayu</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2420030249</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Manduri Varshitha</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2420030269</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Divya </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2420030287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181117-730B-E54D-0F60-2CAC16143F5E}"/>
              </a:ext>
            </a:extLst>
          </p:cNvPr>
          <p:cNvSpPr txBox="1"/>
          <p:nvPr/>
        </p:nvSpPr>
        <p:spPr>
          <a:xfrm>
            <a:off x="4537587" y="80872"/>
            <a:ext cx="4252452" cy="646331"/>
          </a:xfrm>
          <a:prstGeom prst="rect">
            <a:avLst/>
          </a:prstGeom>
          <a:noFill/>
        </p:spPr>
        <p:txBody>
          <a:bodyPr wrap="square">
            <a:spAutoFit/>
          </a:bodyPr>
          <a:lstStyle/>
          <a:p>
            <a:r>
              <a:rPr lang="en-US" sz="3600" b="1" dirty="0"/>
              <a:t>Project Design</a:t>
            </a:r>
          </a:p>
        </p:txBody>
      </p:sp>
      <p:sp>
        <p:nvSpPr>
          <p:cNvPr id="4" name="TextBox 3">
            <a:extLst>
              <a:ext uri="{FF2B5EF4-FFF2-40B4-BE49-F238E27FC236}">
                <a16:creationId xmlns:a16="http://schemas.microsoft.com/office/drawing/2014/main" id="{85B3C924-0170-ABE5-E7A1-D55B301B8A57}"/>
              </a:ext>
            </a:extLst>
          </p:cNvPr>
          <p:cNvSpPr txBox="1"/>
          <p:nvPr/>
        </p:nvSpPr>
        <p:spPr>
          <a:xfrm>
            <a:off x="589936" y="727203"/>
            <a:ext cx="8200103" cy="4524315"/>
          </a:xfrm>
          <a:prstGeom prst="rect">
            <a:avLst/>
          </a:prstGeom>
          <a:noFill/>
        </p:spPr>
        <p:txBody>
          <a:bodyPr wrap="square">
            <a:spAutoFit/>
          </a:bodyPr>
          <a:lstStyle/>
          <a:p>
            <a:pPr>
              <a:buNone/>
            </a:pPr>
            <a:r>
              <a:rPr lang="en-IN" b="1" dirty="0"/>
              <a:t>1. User Interface Layer</a:t>
            </a:r>
            <a:endParaRPr lang="en-IN" dirty="0"/>
          </a:p>
          <a:p>
            <a:pPr marL="342900" lvl="0" indent="-342900">
              <a:buFont typeface="Arial" panose="020B0604020202020204" pitchFamily="34" charset="0"/>
              <a:buChar char="•"/>
            </a:pPr>
            <a:r>
              <a:rPr lang="en-IN" dirty="0"/>
              <a:t>Customer interface </a:t>
            </a:r>
          </a:p>
          <a:p>
            <a:pPr marL="342900" lvl="0" indent="-342900">
              <a:buFont typeface="Arial" panose="020B0604020202020204" pitchFamily="34" charset="0"/>
              <a:buChar char="•"/>
            </a:pPr>
            <a:r>
              <a:rPr lang="en-IN" dirty="0"/>
              <a:t>Service provider dashboard </a:t>
            </a:r>
          </a:p>
          <a:p>
            <a:pPr marL="342900" lvl="0" indent="-342900">
              <a:buFont typeface="Arial" panose="020B0604020202020204" pitchFamily="34" charset="0"/>
              <a:buChar char="•"/>
            </a:pPr>
            <a:r>
              <a:rPr lang="en-IN" dirty="0"/>
              <a:t>Service request and booking interface </a:t>
            </a:r>
          </a:p>
          <a:p>
            <a:pPr marL="342900" lvl="0" indent="-342900">
              <a:buFont typeface="Arial" panose="020B0604020202020204" pitchFamily="34" charset="0"/>
              <a:buChar char="•"/>
            </a:pPr>
            <a:r>
              <a:rPr lang="en-IN" dirty="0"/>
              <a:t>Service status tracking </a:t>
            </a:r>
          </a:p>
          <a:p>
            <a:pPr>
              <a:buNone/>
            </a:pPr>
            <a:r>
              <a:rPr lang="en-IN" b="1" dirty="0"/>
              <a:t>2. Service &amp; Intelligence Layer</a:t>
            </a:r>
            <a:endParaRPr lang="en-IN" dirty="0"/>
          </a:p>
          <a:p>
            <a:pPr marL="342900" lvl="0" indent="-342900">
              <a:buFont typeface="Arial" panose="020B0604020202020204" pitchFamily="34" charset="0"/>
              <a:buChar char="•"/>
            </a:pPr>
            <a:r>
              <a:rPr lang="en-IN" dirty="0"/>
              <a:t>API Gateway </a:t>
            </a:r>
          </a:p>
          <a:p>
            <a:pPr marL="342900" lvl="0" indent="-342900">
              <a:buFont typeface="Arial" panose="020B0604020202020204" pitchFamily="34" charset="0"/>
              <a:buChar char="•"/>
            </a:pPr>
            <a:r>
              <a:rPr lang="en-IN" dirty="0"/>
              <a:t>Authentication and authorization </a:t>
            </a:r>
          </a:p>
          <a:p>
            <a:pPr marL="342900" lvl="0" indent="-342900">
              <a:buFont typeface="Arial" panose="020B0604020202020204" pitchFamily="34" charset="0"/>
              <a:buChar char="•"/>
            </a:pPr>
            <a:r>
              <a:rPr lang="en-IN" dirty="0"/>
              <a:t>AI-based service recommendation </a:t>
            </a:r>
          </a:p>
          <a:p>
            <a:pPr marL="342900" lvl="0" indent="-342900">
              <a:buFont typeface="Arial" panose="020B0604020202020204" pitchFamily="34" charset="0"/>
              <a:buChar char="•"/>
            </a:pPr>
            <a:r>
              <a:rPr lang="en-IN" dirty="0"/>
              <a:t>Service discovery and provider management </a:t>
            </a:r>
          </a:p>
          <a:p>
            <a:pPr marL="342900" lvl="0" indent="-342900">
              <a:buFont typeface="Arial" panose="020B0604020202020204" pitchFamily="34" charset="0"/>
              <a:buChar char="•"/>
            </a:pPr>
            <a:r>
              <a:rPr lang="en-IN" dirty="0"/>
              <a:t>Booking and scheduling services </a:t>
            </a:r>
          </a:p>
          <a:p>
            <a:pPr>
              <a:buNone/>
            </a:pPr>
            <a:r>
              <a:rPr lang="en-IN" b="1" dirty="0"/>
              <a:t>3. Data &amp; Event Layer</a:t>
            </a:r>
            <a:endParaRPr lang="en-IN" dirty="0"/>
          </a:p>
          <a:p>
            <a:pPr marL="342900" lvl="0" indent="-342900">
              <a:buFont typeface="Arial" panose="020B0604020202020204" pitchFamily="34" charset="0"/>
              <a:buChar char="•"/>
            </a:pPr>
            <a:r>
              <a:rPr lang="en-IN" dirty="0"/>
              <a:t>PostgreSQL database </a:t>
            </a:r>
          </a:p>
          <a:p>
            <a:pPr marL="342900" lvl="0" indent="-342900">
              <a:buFont typeface="Arial" panose="020B0604020202020204" pitchFamily="34" charset="0"/>
              <a:buChar char="•"/>
            </a:pPr>
            <a:r>
              <a:rPr lang="en-IN" dirty="0"/>
              <a:t>REST APIs </a:t>
            </a:r>
          </a:p>
          <a:p>
            <a:pPr marL="342900" lvl="0" indent="-342900">
              <a:buFont typeface="Arial" panose="020B0604020202020204" pitchFamily="34" charset="0"/>
              <a:buChar char="•"/>
            </a:pPr>
            <a:r>
              <a:rPr lang="en-IN" dirty="0"/>
              <a:t>Apache Kafka </a:t>
            </a:r>
          </a:p>
          <a:p>
            <a:pPr marL="342900" lvl="0" indent="-342900">
              <a:buFont typeface="Arial" panose="020B0604020202020204" pitchFamily="34" charset="0"/>
              <a:buChar char="•"/>
            </a:pPr>
            <a:r>
              <a:rPr lang="en-IN" dirty="0"/>
              <a:t>Event-driven service communication</a:t>
            </a:r>
          </a:p>
        </p:txBody>
      </p:sp>
      <p:sp>
        <p:nvSpPr>
          <p:cNvPr id="7" name="TextBox 6">
            <a:extLst>
              <a:ext uri="{FF2B5EF4-FFF2-40B4-BE49-F238E27FC236}">
                <a16:creationId xmlns:a16="http://schemas.microsoft.com/office/drawing/2014/main" id="{B40B8C45-8A03-4480-CE48-E6CB6432FBA9}"/>
              </a:ext>
            </a:extLst>
          </p:cNvPr>
          <p:cNvSpPr txBox="1"/>
          <p:nvPr/>
        </p:nvSpPr>
        <p:spPr>
          <a:xfrm>
            <a:off x="589936" y="5436184"/>
            <a:ext cx="9507793" cy="923330"/>
          </a:xfrm>
          <a:prstGeom prst="rect">
            <a:avLst/>
          </a:prstGeom>
          <a:noFill/>
        </p:spPr>
        <p:txBody>
          <a:bodyPr wrap="square">
            <a:spAutoFit/>
          </a:bodyPr>
          <a:lstStyle/>
          <a:p>
            <a:r>
              <a:rPr lang="en-IN" b="1" dirty="0"/>
              <a:t>Design Goal:</a:t>
            </a:r>
            <a:br>
              <a:rPr lang="en-IN" dirty="0"/>
            </a:br>
            <a:r>
              <a:rPr lang="en-IN" dirty="0"/>
              <a:t>To provide a flexible architecture where services can be </a:t>
            </a:r>
            <a:r>
              <a:rPr lang="en-IN" b="1" dirty="0"/>
              <a:t>independently developed, scaled, maintained, and updated</a:t>
            </a:r>
            <a:r>
              <a:rPr lang="en-IN" dirty="0"/>
              <a:t>, while enabling intelligent and reliable home service coordination.</a:t>
            </a:r>
          </a:p>
        </p:txBody>
      </p:sp>
    </p:spTree>
    <p:extLst>
      <p:ext uri="{BB962C8B-B14F-4D97-AF65-F5344CB8AC3E}">
        <p14:creationId xmlns:p14="http://schemas.microsoft.com/office/powerpoint/2010/main" val="3597521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623E869-B22E-C3D2-79E2-4FD4902BEBE3}"/>
              </a:ext>
            </a:extLst>
          </p:cNvPr>
          <p:cNvSpPr txBox="1"/>
          <p:nvPr/>
        </p:nvSpPr>
        <p:spPr>
          <a:xfrm>
            <a:off x="3048000" y="0"/>
            <a:ext cx="6096000" cy="646331"/>
          </a:xfrm>
          <a:prstGeom prst="rect">
            <a:avLst/>
          </a:prstGeom>
          <a:noFill/>
        </p:spPr>
        <p:txBody>
          <a:bodyPr wrap="square">
            <a:spAutoFit/>
          </a:bodyPr>
          <a:lstStyle/>
          <a:p>
            <a:pPr algn="ctr"/>
            <a:r>
              <a:rPr lang="en-US" sz="3600" b="1" dirty="0"/>
              <a:t>System Architecture</a:t>
            </a:r>
          </a:p>
        </p:txBody>
      </p:sp>
      <p:pic>
        <p:nvPicPr>
          <p:cNvPr id="10" name="Picture 9">
            <a:extLst>
              <a:ext uri="{FF2B5EF4-FFF2-40B4-BE49-F238E27FC236}">
                <a16:creationId xmlns:a16="http://schemas.microsoft.com/office/drawing/2014/main" id="{B3809269-3ED0-1041-EDC1-7BB8E1EAFB7C}"/>
              </a:ext>
            </a:extLst>
          </p:cNvPr>
          <p:cNvPicPr>
            <a:picLocks noChangeAspect="1"/>
          </p:cNvPicPr>
          <p:nvPr/>
        </p:nvPicPr>
        <p:blipFill>
          <a:blip r:embed="rId3"/>
          <a:stretch>
            <a:fillRect/>
          </a:stretch>
        </p:blipFill>
        <p:spPr>
          <a:xfrm>
            <a:off x="1661652" y="1042218"/>
            <a:ext cx="7767484" cy="5070173"/>
          </a:xfrm>
          <a:prstGeom prst="rect">
            <a:avLst/>
          </a:prstGeom>
        </p:spPr>
      </p:pic>
    </p:spTree>
    <p:extLst>
      <p:ext uri="{BB962C8B-B14F-4D97-AF65-F5344CB8AC3E}">
        <p14:creationId xmlns:p14="http://schemas.microsoft.com/office/powerpoint/2010/main" val="1335142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1B6D88-CDA5-EC2E-929E-D79DC15DA0B4}"/>
              </a:ext>
            </a:extLst>
          </p:cNvPr>
          <p:cNvSpPr txBox="1"/>
          <p:nvPr/>
        </p:nvSpPr>
        <p:spPr>
          <a:xfrm>
            <a:off x="3923071" y="0"/>
            <a:ext cx="6096000" cy="646331"/>
          </a:xfrm>
          <a:prstGeom prst="rect">
            <a:avLst/>
          </a:prstGeom>
          <a:noFill/>
        </p:spPr>
        <p:txBody>
          <a:bodyPr wrap="square">
            <a:spAutoFit/>
          </a:bodyPr>
          <a:lstStyle/>
          <a:p>
            <a:r>
              <a:rPr lang="en-US" sz="3600" b="1" dirty="0"/>
              <a:t>Component Design</a:t>
            </a:r>
          </a:p>
        </p:txBody>
      </p:sp>
      <p:graphicFrame>
        <p:nvGraphicFramePr>
          <p:cNvPr id="6" name="Table 5">
            <a:extLst>
              <a:ext uri="{FF2B5EF4-FFF2-40B4-BE49-F238E27FC236}">
                <a16:creationId xmlns:a16="http://schemas.microsoft.com/office/drawing/2014/main" id="{2D037C9D-6485-B98A-7A8B-9FA5B92760E0}"/>
              </a:ext>
            </a:extLst>
          </p:cNvPr>
          <p:cNvGraphicFramePr>
            <a:graphicFrameLocks noGrp="1"/>
          </p:cNvGraphicFramePr>
          <p:nvPr>
            <p:extLst>
              <p:ext uri="{D42A27DB-BD31-4B8C-83A1-F6EECF244321}">
                <p14:modId xmlns:p14="http://schemas.microsoft.com/office/powerpoint/2010/main" val="3848704680"/>
              </p:ext>
            </p:extLst>
          </p:nvPr>
        </p:nvGraphicFramePr>
        <p:xfrm>
          <a:off x="747252" y="766916"/>
          <a:ext cx="11061290" cy="5732216"/>
        </p:xfrm>
        <a:graphic>
          <a:graphicData uri="http://schemas.openxmlformats.org/drawingml/2006/table">
            <a:tbl>
              <a:tblPr>
                <a:tableStyleId>{5C22544A-7EE6-4342-B048-85BDC9FD1C3A}</a:tableStyleId>
              </a:tblPr>
              <a:tblGrid>
                <a:gridCol w="5530645">
                  <a:extLst>
                    <a:ext uri="{9D8B030D-6E8A-4147-A177-3AD203B41FA5}">
                      <a16:colId xmlns:a16="http://schemas.microsoft.com/office/drawing/2014/main" val="3527137462"/>
                    </a:ext>
                  </a:extLst>
                </a:gridCol>
                <a:gridCol w="5530645">
                  <a:extLst>
                    <a:ext uri="{9D8B030D-6E8A-4147-A177-3AD203B41FA5}">
                      <a16:colId xmlns:a16="http://schemas.microsoft.com/office/drawing/2014/main" val="4127993815"/>
                    </a:ext>
                  </a:extLst>
                </a:gridCol>
              </a:tblGrid>
              <a:tr h="358264">
                <a:tc>
                  <a:txBody>
                    <a:bodyPr/>
                    <a:lstStyle/>
                    <a:p>
                      <a:pPr>
                        <a:buNone/>
                      </a:pPr>
                      <a:r>
                        <a:rPr lang="en-IN" sz="1300"/>
                        <a:t>Component</a:t>
                      </a:r>
                    </a:p>
                  </a:txBody>
                  <a:tcPr marL="67990" marR="67990" marT="33995" marB="33995" anchor="ctr"/>
                </a:tc>
                <a:tc>
                  <a:txBody>
                    <a:bodyPr/>
                    <a:lstStyle/>
                    <a:p>
                      <a:pPr>
                        <a:buNone/>
                      </a:pPr>
                      <a:r>
                        <a:rPr lang="en-IN" sz="1300"/>
                        <a:t>Responsibility</a:t>
                      </a:r>
                    </a:p>
                  </a:txBody>
                  <a:tcPr marL="67990" marR="67990" marT="33995" marB="33995" anchor="ctr"/>
                </a:tc>
                <a:extLst>
                  <a:ext uri="{0D108BD9-81ED-4DB2-BD59-A6C34878D82A}">
                    <a16:rowId xmlns:a16="http://schemas.microsoft.com/office/drawing/2014/main" val="2847994049"/>
                  </a:ext>
                </a:extLst>
              </a:tr>
              <a:tr h="358264">
                <a:tc>
                  <a:txBody>
                    <a:bodyPr/>
                    <a:lstStyle/>
                    <a:p>
                      <a:pPr>
                        <a:buNone/>
                      </a:pPr>
                      <a:r>
                        <a:rPr lang="en-IN" sz="1300"/>
                        <a:t>Frontend</a:t>
                      </a:r>
                    </a:p>
                  </a:txBody>
                  <a:tcPr marL="67990" marR="67990" marT="33995" marB="33995" anchor="ctr"/>
                </a:tc>
                <a:tc>
                  <a:txBody>
                    <a:bodyPr/>
                    <a:lstStyle/>
                    <a:p>
                      <a:pPr>
                        <a:buNone/>
                      </a:pPr>
                      <a:r>
                        <a:rPr lang="en-IN" sz="1300"/>
                        <a:t>User interaction and service dashboard</a:t>
                      </a:r>
                    </a:p>
                  </a:txBody>
                  <a:tcPr marL="67990" marR="67990" marT="33995" marB="33995" anchor="ctr"/>
                </a:tc>
                <a:extLst>
                  <a:ext uri="{0D108BD9-81ED-4DB2-BD59-A6C34878D82A}">
                    <a16:rowId xmlns:a16="http://schemas.microsoft.com/office/drawing/2014/main" val="3026683763"/>
                  </a:ext>
                </a:extLst>
              </a:tr>
              <a:tr h="358264">
                <a:tc>
                  <a:txBody>
                    <a:bodyPr/>
                    <a:lstStyle/>
                    <a:p>
                      <a:pPr>
                        <a:buNone/>
                      </a:pPr>
                      <a:r>
                        <a:rPr lang="en-IN" sz="1300"/>
                        <a:t>API Gateway</a:t>
                      </a:r>
                    </a:p>
                  </a:txBody>
                  <a:tcPr marL="67990" marR="67990" marT="33995" marB="33995" anchor="ctr"/>
                </a:tc>
                <a:tc>
                  <a:txBody>
                    <a:bodyPr/>
                    <a:lstStyle/>
                    <a:p>
                      <a:pPr>
                        <a:buNone/>
                      </a:pPr>
                      <a:r>
                        <a:rPr lang="en-IN" sz="1300"/>
                        <a:t>Central entry point for client requests</a:t>
                      </a:r>
                    </a:p>
                  </a:txBody>
                  <a:tcPr marL="67990" marR="67990" marT="33995" marB="33995" anchor="ctr"/>
                </a:tc>
                <a:extLst>
                  <a:ext uri="{0D108BD9-81ED-4DB2-BD59-A6C34878D82A}">
                    <a16:rowId xmlns:a16="http://schemas.microsoft.com/office/drawing/2014/main" val="2219114655"/>
                  </a:ext>
                </a:extLst>
              </a:tr>
              <a:tr h="358264">
                <a:tc>
                  <a:txBody>
                    <a:bodyPr/>
                    <a:lstStyle/>
                    <a:p>
                      <a:pPr>
                        <a:buNone/>
                      </a:pPr>
                      <a:r>
                        <a:rPr lang="en-IN" sz="1300"/>
                        <a:t>Authentication Service</a:t>
                      </a:r>
                    </a:p>
                  </a:txBody>
                  <a:tcPr marL="67990" marR="67990" marT="33995" marB="33995" anchor="ctr"/>
                </a:tc>
                <a:tc>
                  <a:txBody>
                    <a:bodyPr/>
                    <a:lstStyle/>
                    <a:p>
                      <a:pPr>
                        <a:buNone/>
                      </a:pPr>
                      <a:r>
                        <a:rPr lang="en-IN" sz="1300"/>
                        <a:t>User authentication and role-based authorization</a:t>
                      </a:r>
                    </a:p>
                  </a:txBody>
                  <a:tcPr marL="67990" marR="67990" marT="33995" marB="33995" anchor="ctr"/>
                </a:tc>
                <a:extLst>
                  <a:ext uri="{0D108BD9-81ED-4DB2-BD59-A6C34878D82A}">
                    <a16:rowId xmlns:a16="http://schemas.microsoft.com/office/drawing/2014/main" val="3036883160"/>
                  </a:ext>
                </a:extLst>
              </a:tr>
              <a:tr h="358264">
                <a:tc>
                  <a:txBody>
                    <a:bodyPr/>
                    <a:lstStyle/>
                    <a:p>
                      <a:pPr>
                        <a:buNone/>
                      </a:pPr>
                      <a:r>
                        <a:rPr lang="en-IN" sz="1300"/>
                        <a:t>Service Request Service</a:t>
                      </a:r>
                    </a:p>
                  </a:txBody>
                  <a:tcPr marL="67990" marR="67990" marT="33995" marB="33995" anchor="ctr"/>
                </a:tc>
                <a:tc>
                  <a:txBody>
                    <a:bodyPr/>
                    <a:lstStyle/>
                    <a:p>
                      <a:pPr>
                        <a:buNone/>
                      </a:pPr>
                      <a:r>
                        <a:rPr lang="en-IN" sz="1300"/>
                        <a:t>Creates and tracks repair requests</a:t>
                      </a:r>
                    </a:p>
                  </a:txBody>
                  <a:tcPr marL="67990" marR="67990" marT="33995" marB="33995" anchor="ctr"/>
                </a:tc>
                <a:extLst>
                  <a:ext uri="{0D108BD9-81ED-4DB2-BD59-A6C34878D82A}">
                    <a16:rowId xmlns:a16="http://schemas.microsoft.com/office/drawing/2014/main" val="2205873055"/>
                  </a:ext>
                </a:extLst>
              </a:tr>
              <a:tr h="358264">
                <a:tc>
                  <a:txBody>
                    <a:bodyPr/>
                    <a:lstStyle/>
                    <a:p>
                      <a:pPr>
                        <a:buNone/>
                      </a:pPr>
                      <a:r>
                        <a:rPr lang="en-IN" sz="1300"/>
                        <a:t>Provider Management Service</a:t>
                      </a:r>
                    </a:p>
                  </a:txBody>
                  <a:tcPr marL="67990" marR="67990" marT="33995" marB="33995" anchor="ctr"/>
                </a:tc>
                <a:tc>
                  <a:txBody>
                    <a:bodyPr/>
                    <a:lstStyle/>
                    <a:p>
                      <a:pPr>
                        <a:buNone/>
                      </a:pPr>
                      <a:r>
                        <a:rPr lang="en-IN" sz="1300"/>
                        <a:t>Manages service providers, skills, and availability</a:t>
                      </a:r>
                    </a:p>
                  </a:txBody>
                  <a:tcPr marL="67990" marR="67990" marT="33995" marB="33995" anchor="ctr"/>
                </a:tc>
                <a:extLst>
                  <a:ext uri="{0D108BD9-81ED-4DB2-BD59-A6C34878D82A}">
                    <a16:rowId xmlns:a16="http://schemas.microsoft.com/office/drawing/2014/main" val="3362085133"/>
                  </a:ext>
                </a:extLst>
              </a:tr>
              <a:tr h="626960">
                <a:tc>
                  <a:txBody>
                    <a:bodyPr/>
                    <a:lstStyle/>
                    <a:p>
                      <a:pPr>
                        <a:buNone/>
                      </a:pPr>
                      <a:r>
                        <a:rPr lang="en-IN" sz="1300"/>
                        <a:t>AI Recommendation Service</a:t>
                      </a:r>
                    </a:p>
                  </a:txBody>
                  <a:tcPr marL="67990" marR="67990" marT="33995" marB="33995" anchor="ctr"/>
                </a:tc>
                <a:tc>
                  <a:txBody>
                    <a:bodyPr/>
                    <a:lstStyle/>
                    <a:p>
                      <a:pPr>
                        <a:buNone/>
                      </a:pPr>
                      <a:r>
                        <a:rPr lang="en-IN" sz="1300"/>
                        <a:t>Analyzes problems and recommends suitable services/providers</a:t>
                      </a:r>
                    </a:p>
                  </a:txBody>
                  <a:tcPr marL="67990" marR="67990" marT="33995" marB="33995" anchor="ctr"/>
                </a:tc>
                <a:extLst>
                  <a:ext uri="{0D108BD9-81ED-4DB2-BD59-A6C34878D82A}">
                    <a16:rowId xmlns:a16="http://schemas.microsoft.com/office/drawing/2014/main" val="3568074194"/>
                  </a:ext>
                </a:extLst>
              </a:tr>
              <a:tr h="358264">
                <a:tc>
                  <a:txBody>
                    <a:bodyPr/>
                    <a:lstStyle/>
                    <a:p>
                      <a:pPr>
                        <a:buNone/>
                      </a:pPr>
                      <a:r>
                        <a:rPr lang="en-IN" sz="1300"/>
                        <a:t>Booking &amp; Scheduling Service</a:t>
                      </a:r>
                    </a:p>
                  </a:txBody>
                  <a:tcPr marL="67990" marR="67990" marT="33995" marB="33995" anchor="ctr"/>
                </a:tc>
                <a:tc>
                  <a:txBody>
                    <a:bodyPr/>
                    <a:lstStyle/>
                    <a:p>
                      <a:pPr>
                        <a:buNone/>
                      </a:pPr>
                      <a:r>
                        <a:rPr lang="en-IN" sz="1300"/>
                        <a:t>Manages appointments and time slots</a:t>
                      </a:r>
                    </a:p>
                  </a:txBody>
                  <a:tcPr marL="67990" marR="67990" marT="33995" marB="33995" anchor="ctr"/>
                </a:tc>
                <a:extLst>
                  <a:ext uri="{0D108BD9-81ED-4DB2-BD59-A6C34878D82A}">
                    <a16:rowId xmlns:a16="http://schemas.microsoft.com/office/drawing/2014/main" val="63681307"/>
                  </a:ext>
                </a:extLst>
              </a:tr>
              <a:tr h="358264">
                <a:tc>
                  <a:txBody>
                    <a:bodyPr/>
                    <a:lstStyle/>
                    <a:p>
                      <a:pPr>
                        <a:buNone/>
                      </a:pPr>
                      <a:r>
                        <a:rPr lang="en-IN" sz="1300"/>
                        <a:t>Notification Service</a:t>
                      </a:r>
                    </a:p>
                  </a:txBody>
                  <a:tcPr marL="67990" marR="67990" marT="33995" marB="33995" anchor="ctr"/>
                </a:tc>
                <a:tc>
                  <a:txBody>
                    <a:bodyPr/>
                    <a:lstStyle/>
                    <a:p>
                      <a:pPr>
                        <a:buNone/>
                      </a:pPr>
                      <a:r>
                        <a:rPr lang="en-IN" sz="1300"/>
                        <a:t>Sends booking and service status updates</a:t>
                      </a:r>
                    </a:p>
                  </a:txBody>
                  <a:tcPr marL="67990" marR="67990" marT="33995" marB="33995" anchor="ctr"/>
                </a:tc>
                <a:extLst>
                  <a:ext uri="{0D108BD9-81ED-4DB2-BD59-A6C34878D82A}">
                    <a16:rowId xmlns:a16="http://schemas.microsoft.com/office/drawing/2014/main" val="2302713114"/>
                  </a:ext>
                </a:extLst>
              </a:tr>
              <a:tr h="626960">
                <a:tc>
                  <a:txBody>
                    <a:bodyPr/>
                    <a:lstStyle/>
                    <a:p>
                      <a:pPr>
                        <a:buNone/>
                      </a:pPr>
                      <a:r>
                        <a:rPr lang="en-IN" sz="1300"/>
                        <a:t>AI Agents</a:t>
                      </a:r>
                    </a:p>
                  </a:txBody>
                  <a:tcPr marL="67990" marR="67990" marT="33995" marB="33995" anchor="ctr"/>
                </a:tc>
                <a:tc>
                  <a:txBody>
                    <a:bodyPr/>
                    <a:lstStyle/>
                    <a:p>
                      <a:pPr>
                        <a:buNone/>
                      </a:pPr>
                      <a:r>
                        <a:rPr lang="en-IN" sz="1300"/>
                        <a:t>Perform problem analysis, provider matching, and service tracking</a:t>
                      </a:r>
                    </a:p>
                  </a:txBody>
                  <a:tcPr marL="67990" marR="67990" marT="33995" marB="33995" anchor="ctr"/>
                </a:tc>
                <a:extLst>
                  <a:ext uri="{0D108BD9-81ED-4DB2-BD59-A6C34878D82A}">
                    <a16:rowId xmlns:a16="http://schemas.microsoft.com/office/drawing/2014/main" val="2439403050"/>
                  </a:ext>
                </a:extLst>
              </a:tr>
              <a:tr h="358264">
                <a:tc>
                  <a:txBody>
                    <a:bodyPr/>
                    <a:lstStyle/>
                    <a:p>
                      <a:pPr>
                        <a:buNone/>
                      </a:pPr>
                      <a:r>
                        <a:rPr lang="en-IN" sz="1300"/>
                        <a:t>Apache Kafka</a:t>
                      </a:r>
                    </a:p>
                  </a:txBody>
                  <a:tcPr marL="67990" marR="67990" marT="33995" marB="33995" anchor="ctr"/>
                </a:tc>
                <a:tc>
                  <a:txBody>
                    <a:bodyPr/>
                    <a:lstStyle/>
                    <a:p>
                      <a:pPr>
                        <a:buNone/>
                      </a:pPr>
                      <a:r>
                        <a:rPr lang="en-IN" sz="1300"/>
                        <a:t>Handles asynchronous event communication</a:t>
                      </a:r>
                    </a:p>
                  </a:txBody>
                  <a:tcPr marL="67990" marR="67990" marT="33995" marB="33995" anchor="ctr"/>
                </a:tc>
                <a:extLst>
                  <a:ext uri="{0D108BD9-81ED-4DB2-BD59-A6C34878D82A}">
                    <a16:rowId xmlns:a16="http://schemas.microsoft.com/office/drawing/2014/main" val="1640345574"/>
                  </a:ext>
                </a:extLst>
              </a:tr>
              <a:tr h="626960">
                <a:tc>
                  <a:txBody>
                    <a:bodyPr/>
                    <a:lstStyle/>
                    <a:p>
                      <a:pPr>
                        <a:buNone/>
                      </a:pPr>
                      <a:r>
                        <a:rPr lang="en-IN" sz="1300"/>
                        <a:t>PostgreSQL</a:t>
                      </a:r>
                    </a:p>
                  </a:txBody>
                  <a:tcPr marL="67990" marR="67990" marT="33995" marB="33995" anchor="ctr"/>
                </a:tc>
                <a:tc>
                  <a:txBody>
                    <a:bodyPr/>
                    <a:lstStyle/>
                    <a:p>
                      <a:pPr>
                        <a:buNone/>
                      </a:pPr>
                      <a:r>
                        <a:rPr lang="en-IN" sz="1300"/>
                        <a:t>Stores users, providers, requests, bookings, and service history</a:t>
                      </a:r>
                    </a:p>
                  </a:txBody>
                  <a:tcPr marL="67990" marR="67990" marT="33995" marB="33995" anchor="ctr"/>
                </a:tc>
                <a:extLst>
                  <a:ext uri="{0D108BD9-81ED-4DB2-BD59-A6C34878D82A}">
                    <a16:rowId xmlns:a16="http://schemas.microsoft.com/office/drawing/2014/main" val="1604337424"/>
                  </a:ext>
                </a:extLst>
              </a:tr>
              <a:tr h="626960">
                <a:tc>
                  <a:txBody>
                    <a:bodyPr/>
                    <a:lstStyle/>
                    <a:p>
                      <a:pPr>
                        <a:buNone/>
                      </a:pPr>
                      <a:r>
                        <a:rPr lang="en-IN" sz="1300"/>
                        <a:t>Docker</a:t>
                      </a:r>
                    </a:p>
                  </a:txBody>
                  <a:tcPr marL="67990" marR="67990" marT="33995" marB="33995" anchor="ctr"/>
                </a:tc>
                <a:tc>
                  <a:txBody>
                    <a:bodyPr/>
                    <a:lstStyle/>
                    <a:p>
                      <a:pPr>
                        <a:buNone/>
                      </a:pPr>
                      <a:r>
                        <a:rPr lang="en-IN" sz="1300" dirty="0"/>
                        <a:t>Containerizes services for deployment and portability</a:t>
                      </a:r>
                    </a:p>
                  </a:txBody>
                  <a:tcPr marL="67990" marR="67990" marT="33995" marB="33995" anchor="ctr"/>
                </a:tc>
                <a:extLst>
                  <a:ext uri="{0D108BD9-81ED-4DB2-BD59-A6C34878D82A}">
                    <a16:rowId xmlns:a16="http://schemas.microsoft.com/office/drawing/2014/main" val="2929240726"/>
                  </a:ext>
                </a:extLst>
              </a:tr>
            </a:tbl>
          </a:graphicData>
        </a:graphic>
      </p:graphicFrame>
    </p:spTree>
    <p:extLst>
      <p:ext uri="{BB962C8B-B14F-4D97-AF65-F5344CB8AC3E}">
        <p14:creationId xmlns:p14="http://schemas.microsoft.com/office/powerpoint/2010/main" val="3604800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205907-9909-2ADE-8D8D-3E8C45B19CA3}"/>
              </a:ext>
            </a:extLst>
          </p:cNvPr>
          <p:cNvSpPr txBox="1"/>
          <p:nvPr/>
        </p:nvSpPr>
        <p:spPr>
          <a:xfrm>
            <a:off x="560438" y="948690"/>
            <a:ext cx="9065342" cy="5909310"/>
          </a:xfrm>
          <a:prstGeom prst="rect">
            <a:avLst/>
          </a:prstGeom>
          <a:noFill/>
        </p:spPr>
        <p:txBody>
          <a:bodyPr wrap="square">
            <a:spAutoFit/>
          </a:bodyPr>
          <a:lstStyle/>
          <a:p>
            <a:pPr marL="342900" lvl="0" indent="-342900">
              <a:buFont typeface="Arial" panose="020B0604020202020204" pitchFamily="34" charset="0"/>
              <a:buChar char="•"/>
            </a:pPr>
            <a:r>
              <a:rPr lang="en-IN" b="1" dirty="0"/>
              <a:t>Requirement Analysis</a:t>
            </a:r>
            <a:br>
              <a:rPr lang="en-IN" dirty="0"/>
            </a:br>
            <a:r>
              <a:rPr lang="en-IN" dirty="0"/>
              <a:t>Identify customer, service-provider, and administrative requirements. </a:t>
            </a:r>
          </a:p>
          <a:p>
            <a:pPr marL="342900" lvl="0" indent="-342900">
              <a:buFont typeface="Arial" panose="020B0604020202020204" pitchFamily="34" charset="0"/>
              <a:buChar char="•"/>
            </a:pPr>
            <a:r>
              <a:rPr lang="en-IN" b="1" dirty="0"/>
              <a:t>System Design</a:t>
            </a:r>
            <a:br>
              <a:rPr lang="en-IN" dirty="0"/>
            </a:br>
            <a:r>
              <a:rPr lang="en-IN" dirty="0" err="1"/>
              <a:t>Design</a:t>
            </a:r>
            <a:r>
              <a:rPr lang="en-IN" dirty="0"/>
              <a:t> the microservices architecture, database structure, APIs, and communication flow. </a:t>
            </a:r>
          </a:p>
          <a:p>
            <a:pPr marL="342900" lvl="0" indent="-342900">
              <a:buFont typeface="Arial" panose="020B0604020202020204" pitchFamily="34" charset="0"/>
              <a:buChar char="•"/>
            </a:pPr>
            <a:r>
              <a:rPr lang="en-IN" b="1" dirty="0"/>
              <a:t>Service Development</a:t>
            </a:r>
            <a:br>
              <a:rPr lang="en-IN" dirty="0"/>
            </a:br>
            <a:r>
              <a:rPr lang="en-IN" dirty="0"/>
              <a:t>Develop independent services for service requests, providers, booking, scheduling, and notifications using Spring Boot. </a:t>
            </a:r>
          </a:p>
          <a:p>
            <a:pPr marL="342900" lvl="0" indent="-342900">
              <a:buFont typeface="Arial" panose="020B0604020202020204" pitchFamily="34" charset="0"/>
              <a:buChar char="•"/>
            </a:pPr>
            <a:r>
              <a:rPr lang="en-IN" b="1" dirty="0"/>
              <a:t>AI Integration</a:t>
            </a:r>
            <a:br>
              <a:rPr lang="en-IN" dirty="0"/>
            </a:br>
            <a:r>
              <a:rPr lang="en-IN" dirty="0"/>
              <a:t>Integrate Spring AI and LLM/</a:t>
            </a:r>
            <a:r>
              <a:rPr lang="en-IN" dirty="0" err="1"/>
              <a:t>Ollama</a:t>
            </a:r>
            <a:r>
              <a:rPr lang="en-IN" dirty="0"/>
              <a:t> APIs for problem analysis and service/provider recommendations. </a:t>
            </a:r>
          </a:p>
          <a:p>
            <a:pPr marL="342900" lvl="0" indent="-342900">
              <a:buFont typeface="Arial" panose="020B0604020202020204" pitchFamily="34" charset="0"/>
              <a:buChar char="•"/>
            </a:pPr>
            <a:r>
              <a:rPr lang="en-IN" b="1" dirty="0"/>
              <a:t>Event Integration</a:t>
            </a:r>
            <a:br>
              <a:rPr lang="en-IN" dirty="0"/>
            </a:br>
            <a:r>
              <a:rPr lang="en-IN" dirty="0"/>
              <a:t>Use Apache Kafka for asynchronous communication between services and processing service-related events. </a:t>
            </a:r>
          </a:p>
          <a:p>
            <a:pPr marL="342900" lvl="0" indent="-342900">
              <a:buFont typeface="Arial" panose="020B0604020202020204" pitchFamily="34" charset="0"/>
              <a:buChar char="•"/>
            </a:pPr>
            <a:r>
              <a:rPr lang="en-IN" b="1" dirty="0"/>
              <a:t>Security Implementation</a:t>
            </a:r>
            <a:br>
              <a:rPr lang="en-IN" dirty="0"/>
            </a:br>
            <a:r>
              <a:rPr lang="en-IN" dirty="0"/>
              <a:t>Implement Spring Security and JWT-based authentication with role-based access. </a:t>
            </a:r>
          </a:p>
          <a:p>
            <a:pPr marL="342900" lvl="0" indent="-342900">
              <a:buFont typeface="Arial" panose="020B0604020202020204" pitchFamily="34" charset="0"/>
              <a:buChar char="•"/>
            </a:pPr>
            <a:r>
              <a:rPr lang="en-IN" b="1" dirty="0"/>
              <a:t>Testing &amp; Integration</a:t>
            </a:r>
            <a:br>
              <a:rPr lang="en-IN" dirty="0"/>
            </a:br>
            <a:r>
              <a:rPr lang="en-IN" dirty="0"/>
              <a:t>Test individual services and then integrate them to verify complete request-to-service workflows. </a:t>
            </a:r>
          </a:p>
          <a:p>
            <a:pPr marL="342900" lvl="0" indent="-342900">
              <a:buFont typeface="Arial" panose="020B0604020202020204" pitchFamily="34" charset="0"/>
              <a:buChar char="•"/>
            </a:pPr>
            <a:r>
              <a:rPr lang="en-IN" b="1" dirty="0"/>
              <a:t>Deployment</a:t>
            </a:r>
            <a:br>
              <a:rPr lang="en-IN" dirty="0"/>
            </a:br>
            <a:r>
              <a:rPr lang="en-IN" dirty="0"/>
              <a:t>Containerize the application using Docker for consistent and scalable deployment.</a:t>
            </a:r>
          </a:p>
        </p:txBody>
      </p:sp>
      <p:sp>
        <p:nvSpPr>
          <p:cNvPr id="7" name="TextBox 6">
            <a:extLst>
              <a:ext uri="{FF2B5EF4-FFF2-40B4-BE49-F238E27FC236}">
                <a16:creationId xmlns:a16="http://schemas.microsoft.com/office/drawing/2014/main" id="{70559674-27D5-A910-3F97-3F093065349E}"/>
              </a:ext>
            </a:extLst>
          </p:cNvPr>
          <p:cNvSpPr txBox="1"/>
          <p:nvPr/>
        </p:nvSpPr>
        <p:spPr>
          <a:xfrm>
            <a:off x="4611329" y="0"/>
            <a:ext cx="6096000" cy="646331"/>
          </a:xfrm>
          <a:prstGeom prst="rect">
            <a:avLst/>
          </a:prstGeom>
          <a:noFill/>
        </p:spPr>
        <p:txBody>
          <a:bodyPr wrap="square">
            <a:spAutoFit/>
          </a:bodyPr>
          <a:lstStyle/>
          <a:p>
            <a:r>
              <a:rPr lang="en-IN" sz="3600" dirty="0"/>
              <a:t>Methodology</a:t>
            </a:r>
            <a:endParaRPr lang="en-IN" dirty="0"/>
          </a:p>
        </p:txBody>
      </p:sp>
    </p:spTree>
    <p:extLst>
      <p:ext uri="{BB962C8B-B14F-4D97-AF65-F5344CB8AC3E}">
        <p14:creationId xmlns:p14="http://schemas.microsoft.com/office/powerpoint/2010/main" val="2203746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B01CF4-87F0-0E1E-F2D5-F350F7188B20}"/>
              </a:ext>
            </a:extLst>
          </p:cNvPr>
          <p:cNvSpPr txBox="1"/>
          <p:nvPr/>
        </p:nvSpPr>
        <p:spPr>
          <a:xfrm>
            <a:off x="5083277" y="102183"/>
            <a:ext cx="1720645" cy="523220"/>
          </a:xfrm>
          <a:prstGeom prst="rect">
            <a:avLst/>
          </a:prstGeom>
          <a:noFill/>
        </p:spPr>
        <p:txBody>
          <a:bodyPr wrap="square">
            <a:spAutoFit/>
          </a:bodyPr>
          <a:lstStyle/>
          <a:p>
            <a:r>
              <a:rPr lang="en-IN" sz="2800" dirty="0"/>
              <a:t>Workflow</a:t>
            </a:r>
            <a:endParaRPr lang="en-IN" dirty="0"/>
          </a:p>
        </p:txBody>
      </p:sp>
      <p:sp>
        <p:nvSpPr>
          <p:cNvPr id="7" name="TextBox 6">
            <a:extLst>
              <a:ext uri="{FF2B5EF4-FFF2-40B4-BE49-F238E27FC236}">
                <a16:creationId xmlns:a16="http://schemas.microsoft.com/office/drawing/2014/main" id="{2D2DD81F-5ACF-6F68-AF9A-5941B5D5D3C2}"/>
              </a:ext>
            </a:extLst>
          </p:cNvPr>
          <p:cNvSpPr txBox="1"/>
          <p:nvPr/>
        </p:nvSpPr>
        <p:spPr>
          <a:xfrm>
            <a:off x="1828799" y="744756"/>
            <a:ext cx="7718323" cy="5755422"/>
          </a:xfrm>
          <a:prstGeom prst="rect">
            <a:avLst/>
          </a:prstGeom>
          <a:noFill/>
        </p:spPr>
        <p:txBody>
          <a:bodyPr wrap="square">
            <a:spAutoFit/>
          </a:bodyPr>
          <a:lstStyle/>
          <a:p>
            <a:pPr>
              <a:buNone/>
            </a:pPr>
            <a:r>
              <a:rPr lang="en-IN" sz="1600" dirty="0"/>
              <a:t>Customer</a:t>
            </a:r>
            <a:br>
              <a:rPr lang="en-IN" sz="1600" dirty="0"/>
            </a:br>
            <a:r>
              <a:rPr lang="en-IN" sz="1600" dirty="0"/>
              <a:t>↓</a:t>
            </a:r>
            <a:br>
              <a:rPr lang="en-IN" sz="1600" dirty="0"/>
            </a:br>
            <a:r>
              <a:rPr lang="en-IN" sz="1600" dirty="0"/>
              <a:t>Login / Registration</a:t>
            </a:r>
            <a:br>
              <a:rPr lang="en-IN" sz="1600" dirty="0"/>
            </a:br>
            <a:r>
              <a:rPr lang="en-IN" sz="1600" dirty="0"/>
              <a:t>↓</a:t>
            </a:r>
            <a:br>
              <a:rPr lang="en-IN" sz="1600" dirty="0"/>
            </a:br>
            <a:r>
              <a:rPr lang="en-IN" sz="1600" dirty="0"/>
              <a:t>Describe Home Repair Problem</a:t>
            </a:r>
            <a:br>
              <a:rPr lang="en-IN" sz="1600" dirty="0"/>
            </a:br>
            <a:r>
              <a:rPr lang="en-IN" sz="1600" dirty="0"/>
              <a:t>↓</a:t>
            </a:r>
            <a:br>
              <a:rPr lang="en-IN" sz="1600" dirty="0"/>
            </a:br>
            <a:r>
              <a:rPr lang="en-IN" sz="1600" dirty="0"/>
              <a:t>AI Problem Analysis</a:t>
            </a:r>
            <a:br>
              <a:rPr lang="en-IN" sz="1600" dirty="0"/>
            </a:br>
            <a:r>
              <a:rPr lang="en-IN" sz="1600" dirty="0"/>
              <a:t>↓</a:t>
            </a:r>
            <a:br>
              <a:rPr lang="en-IN" sz="1600" dirty="0"/>
            </a:br>
            <a:r>
              <a:rPr lang="en-IN" sz="1600" dirty="0"/>
              <a:t>Service Category Identification</a:t>
            </a:r>
            <a:br>
              <a:rPr lang="en-IN" sz="1600" dirty="0"/>
            </a:br>
            <a:r>
              <a:rPr lang="en-IN" sz="1600" dirty="0"/>
              <a:t>↓</a:t>
            </a:r>
            <a:br>
              <a:rPr lang="en-IN" sz="1600" dirty="0"/>
            </a:br>
            <a:r>
              <a:rPr lang="en-IN" sz="1600" dirty="0"/>
              <a:t>Provider Recommendation</a:t>
            </a:r>
            <a:br>
              <a:rPr lang="en-IN" sz="1600" dirty="0"/>
            </a:br>
            <a:r>
              <a:rPr lang="en-IN" sz="1600" dirty="0"/>
              <a:t>↓</a:t>
            </a:r>
            <a:br>
              <a:rPr lang="en-IN" sz="1600" dirty="0"/>
            </a:br>
            <a:r>
              <a:rPr lang="en-IN" sz="1600" dirty="0"/>
              <a:t>Select Provider &amp; Book Service</a:t>
            </a:r>
            <a:br>
              <a:rPr lang="en-IN" sz="1600" dirty="0"/>
            </a:br>
            <a:r>
              <a:rPr lang="en-IN" sz="1600" dirty="0"/>
              <a:t>↓</a:t>
            </a:r>
            <a:br>
              <a:rPr lang="en-IN" sz="1600" dirty="0"/>
            </a:br>
            <a:r>
              <a:rPr lang="en-IN" sz="1600" dirty="0"/>
              <a:t>Schedule Appointment</a:t>
            </a:r>
            <a:br>
              <a:rPr lang="en-IN" sz="1600" dirty="0"/>
            </a:br>
            <a:r>
              <a:rPr lang="en-IN" sz="1600" dirty="0"/>
              <a:t>↓</a:t>
            </a:r>
            <a:br>
              <a:rPr lang="en-IN" sz="1600" dirty="0"/>
            </a:br>
            <a:r>
              <a:rPr lang="en-IN" sz="1600" dirty="0"/>
              <a:t>Kafka Event Processing</a:t>
            </a:r>
            <a:br>
              <a:rPr lang="en-IN" sz="1600" dirty="0"/>
            </a:br>
            <a:r>
              <a:rPr lang="en-IN" sz="1600" dirty="0"/>
              <a:t>↓</a:t>
            </a:r>
            <a:br>
              <a:rPr lang="en-IN" sz="1600" dirty="0"/>
            </a:br>
            <a:r>
              <a:rPr lang="en-IN" sz="1600" dirty="0"/>
              <a:t>Service Execution &amp; Status Updates</a:t>
            </a:r>
            <a:br>
              <a:rPr lang="en-IN" sz="1600" dirty="0"/>
            </a:br>
            <a:r>
              <a:rPr lang="en-IN" sz="1600" dirty="0"/>
              <a:t>↓</a:t>
            </a:r>
            <a:br>
              <a:rPr lang="en-IN" sz="1600" dirty="0"/>
            </a:br>
            <a:r>
              <a:rPr lang="en-IN" sz="1600" dirty="0"/>
              <a:t>Notification to Customer</a:t>
            </a:r>
            <a:br>
              <a:rPr lang="en-IN" sz="1600" dirty="0"/>
            </a:br>
            <a:r>
              <a:rPr lang="en-IN" sz="1600" dirty="0"/>
              <a:t>↓</a:t>
            </a:r>
            <a:br>
              <a:rPr lang="en-IN" sz="1600" dirty="0"/>
            </a:br>
            <a:r>
              <a:rPr lang="en-IN" sz="1600" dirty="0"/>
              <a:t>Service Completion &amp; History</a:t>
            </a:r>
          </a:p>
        </p:txBody>
      </p:sp>
    </p:spTree>
    <p:extLst>
      <p:ext uri="{BB962C8B-B14F-4D97-AF65-F5344CB8AC3E}">
        <p14:creationId xmlns:p14="http://schemas.microsoft.com/office/powerpoint/2010/main" val="4245051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0EF33EE-AB51-F4F3-FE5E-D9FE5EB6AC39}"/>
              </a:ext>
            </a:extLst>
          </p:cNvPr>
          <p:cNvSpPr txBox="1"/>
          <p:nvPr/>
        </p:nvSpPr>
        <p:spPr>
          <a:xfrm>
            <a:off x="4267200" y="34708"/>
            <a:ext cx="6096000" cy="646331"/>
          </a:xfrm>
          <a:prstGeom prst="rect">
            <a:avLst/>
          </a:prstGeom>
          <a:noFill/>
        </p:spPr>
        <p:txBody>
          <a:bodyPr wrap="square">
            <a:spAutoFit/>
          </a:bodyPr>
          <a:lstStyle/>
          <a:p>
            <a:r>
              <a:rPr lang="en-IN" sz="3600" dirty="0"/>
              <a:t>Technology Stack </a:t>
            </a:r>
            <a:endParaRPr lang="en-IN" dirty="0"/>
          </a:p>
        </p:txBody>
      </p:sp>
      <p:sp>
        <p:nvSpPr>
          <p:cNvPr id="8" name="TextBox 7">
            <a:extLst>
              <a:ext uri="{FF2B5EF4-FFF2-40B4-BE49-F238E27FC236}">
                <a16:creationId xmlns:a16="http://schemas.microsoft.com/office/drawing/2014/main" id="{C3ABABB3-291D-8D1D-E7FE-9B882054A09A}"/>
              </a:ext>
            </a:extLst>
          </p:cNvPr>
          <p:cNvSpPr txBox="1"/>
          <p:nvPr/>
        </p:nvSpPr>
        <p:spPr>
          <a:xfrm>
            <a:off x="1140540" y="914724"/>
            <a:ext cx="8465576" cy="6146363"/>
          </a:xfrm>
          <a:prstGeom prst="rect">
            <a:avLst/>
          </a:prstGeom>
          <a:noFill/>
        </p:spPr>
        <p:txBody>
          <a:bodyPr wrap="square">
            <a:spAutoFit/>
          </a:bodyPr>
          <a:lstStyle/>
          <a:p>
            <a:pPr>
              <a:lnSpc>
                <a:spcPct val="150000"/>
              </a:lnSpc>
              <a:buNone/>
            </a:pPr>
            <a:r>
              <a:rPr lang="en-IN" sz="1600" b="1" dirty="0"/>
              <a:t>Frontend</a:t>
            </a:r>
            <a:br>
              <a:rPr lang="en-IN" sz="1600" dirty="0"/>
            </a:br>
            <a:r>
              <a:rPr lang="en-IN" sz="1600" dirty="0"/>
              <a:t>React.js, HTML, CSS, JavaScript</a:t>
            </a:r>
          </a:p>
          <a:p>
            <a:pPr>
              <a:lnSpc>
                <a:spcPct val="150000"/>
              </a:lnSpc>
              <a:buNone/>
            </a:pPr>
            <a:r>
              <a:rPr lang="en-IN" sz="1600" b="1" dirty="0"/>
              <a:t>Backend</a:t>
            </a:r>
            <a:br>
              <a:rPr lang="en-IN" sz="1600" dirty="0"/>
            </a:br>
            <a:r>
              <a:rPr lang="en-IN" sz="1600" dirty="0"/>
              <a:t>Java, Spring Boot, REST APIs</a:t>
            </a:r>
          </a:p>
          <a:p>
            <a:pPr>
              <a:lnSpc>
                <a:spcPct val="150000"/>
              </a:lnSpc>
              <a:buNone/>
            </a:pPr>
            <a:r>
              <a:rPr lang="en-IN" sz="1600" b="1" dirty="0"/>
              <a:t>Microservices Architecture</a:t>
            </a:r>
            <a:br>
              <a:rPr lang="en-IN" sz="1600" dirty="0"/>
            </a:br>
            <a:r>
              <a:rPr lang="en-IN" sz="1600" dirty="0"/>
              <a:t>Spring Cloud, API Gateway, Eureka Service Discovery</a:t>
            </a:r>
          </a:p>
          <a:p>
            <a:pPr>
              <a:lnSpc>
                <a:spcPct val="150000"/>
              </a:lnSpc>
              <a:buNone/>
            </a:pPr>
            <a:r>
              <a:rPr lang="en-IN" sz="1600" b="1" dirty="0"/>
              <a:t>AI &amp; Recommendation</a:t>
            </a:r>
            <a:br>
              <a:rPr lang="en-IN" sz="1600" dirty="0"/>
            </a:br>
            <a:r>
              <a:rPr lang="en-IN" sz="1600" dirty="0"/>
              <a:t>Spring AI, LLM APIs</a:t>
            </a:r>
          </a:p>
          <a:p>
            <a:pPr>
              <a:lnSpc>
                <a:spcPct val="150000"/>
              </a:lnSpc>
              <a:buNone/>
            </a:pPr>
            <a:r>
              <a:rPr lang="en-IN" sz="1600" b="1" dirty="0"/>
              <a:t>Messaging</a:t>
            </a:r>
            <a:br>
              <a:rPr lang="en-IN" sz="1600" dirty="0"/>
            </a:br>
            <a:r>
              <a:rPr lang="en-IN" sz="1600" dirty="0"/>
              <a:t>Apache Kafka</a:t>
            </a:r>
          </a:p>
          <a:p>
            <a:pPr>
              <a:lnSpc>
                <a:spcPct val="150000"/>
              </a:lnSpc>
              <a:buNone/>
            </a:pPr>
            <a:r>
              <a:rPr lang="en-IN" sz="1600" b="1" dirty="0"/>
              <a:t>Database</a:t>
            </a:r>
            <a:br>
              <a:rPr lang="en-IN" sz="1600" dirty="0"/>
            </a:br>
            <a:r>
              <a:rPr lang="en-IN" sz="1600" dirty="0"/>
              <a:t>PostgreSQL</a:t>
            </a:r>
          </a:p>
          <a:p>
            <a:pPr>
              <a:lnSpc>
                <a:spcPct val="150000"/>
              </a:lnSpc>
              <a:buNone/>
            </a:pPr>
            <a:r>
              <a:rPr lang="en-IN" sz="1600" b="1" dirty="0"/>
              <a:t>Security</a:t>
            </a:r>
            <a:br>
              <a:rPr lang="en-IN" sz="1600" dirty="0"/>
            </a:br>
            <a:r>
              <a:rPr lang="en-IN" sz="1600" dirty="0"/>
              <a:t>Spring Security, JWT, Role-Based Access Control</a:t>
            </a:r>
          </a:p>
          <a:p>
            <a:pPr>
              <a:lnSpc>
                <a:spcPct val="150000"/>
              </a:lnSpc>
              <a:buNone/>
            </a:pPr>
            <a:r>
              <a:rPr lang="en-IN" sz="1600" b="1" dirty="0"/>
              <a:t>Deployment</a:t>
            </a:r>
            <a:br>
              <a:rPr lang="en-IN" sz="1600" dirty="0"/>
            </a:br>
            <a:r>
              <a:rPr lang="en-IN" sz="1600" dirty="0"/>
              <a:t>Docker</a:t>
            </a:r>
          </a:p>
        </p:txBody>
      </p:sp>
    </p:spTree>
    <p:extLst>
      <p:ext uri="{BB962C8B-B14F-4D97-AF65-F5344CB8AC3E}">
        <p14:creationId xmlns:p14="http://schemas.microsoft.com/office/powerpoint/2010/main" val="1501611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C101ACD-CA5F-FE91-EAE7-5EF25FC6E98F}"/>
              </a:ext>
            </a:extLst>
          </p:cNvPr>
          <p:cNvSpPr txBox="1"/>
          <p:nvPr/>
        </p:nvSpPr>
        <p:spPr>
          <a:xfrm>
            <a:off x="3156155" y="0"/>
            <a:ext cx="6096000" cy="646331"/>
          </a:xfrm>
          <a:prstGeom prst="rect">
            <a:avLst/>
          </a:prstGeom>
          <a:noFill/>
        </p:spPr>
        <p:txBody>
          <a:bodyPr wrap="square">
            <a:spAutoFit/>
          </a:bodyPr>
          <a:lstStyle/>
          <a:p>
            <a:pPr algn="ctr"/>
            <a:r>
              <a:rPr lang="en-IN" sz="3600" dirty="0"/>
              <a:t>Technical Validation &amp; Testing</a:t>
            </a:r>
            <a:endParaRPr lang="en-US" sz="3600" b="1" dirty="0"/>
          </a:p>
        </p:txBody>
      </p:sp>
      <p:graphicFrame>
        <p:nvGraphicFramePr>
          <p:cNvPr id="8" name="Table 7">
            <a:extLst>
              <a:ext uri="{FF2B5EF4-FFF2-40B4-BE49-F238E27FC236}">
                <a16:creationId xmlns:a16="http://schemas.microsoft.com/office/drawing/2014/main" id="{6AF738F1-A032-307B-1978-F4D8C50912E1}"/>
              </a:ext>
            </a:extLst>
          </p:cNvPr>
          <p:cNvGraphicFramePr>
            <a:graphicFrameLocks noGrp="1"/>
          </p:cNvGraphicFramePr>
          <p:nvPr>
            <p:extLst>
              <p:ext uri="{D42A27DB-BD31-4B8C-83A1-F6EECF244321}">
                <p14:modId xmlns:p14="http://schemas.microsoft.com/office/powerpoint/2010/main" val="1356851051"/>
              </p:ext>
            </p:extLst>
          </p:nvPr>
        </p:nvGraphicFramePr>
        <p:xfrm>
          <a:off x="1669863" y="989881"/>
          <a:ext cx="8978472" cy="5283098"/>
        </p:xfrm>
        <a:graphic>
          <a:graphicData uri="http://schemas.openxmlformats.org/drawingml/2006/table">
            <a:tbl>
              <a:tblPr>
                <a:tableStyleId>{5C22544A-7EE6-4342-B048-85BDC9FD1C3A}</a:tableStyleId>
              </a:tblPr>
              <a:tblGrid>
                <a:gridCol w="4489236">
                  <a:extLst>
                    <a:ext uri="{9D8B030D-6E8A-4147-A177-3AD203B41FA5}">
                      <a16:colId xmlns:a16="http://schemas.microsoft.com/office/drawing/2014/main" val="357620914"/>
                    </a:ext>
                  </a:extLst>
                </a:gridCol>
                <a:gridCol w="4489236">
                  <a:extLst>
                    <a:ext uri="{9D8B030D-6E8A-4147-A177-3AD203B41FA5}">
                      <a16:colId xmlns:a16="http://schemas.microsoft.com/office/drawing/2014/main" val="3344473630"/>
                    </a:ext>
                  </a:extLst>
                </a:gridCol>
              </a:tblGrid>
              <a:tr h="346433">
                <a:tc>
                  <a:txBody>
                    <a:bodyPr/>
                    <a:lstStyle/>
                    <a:p>
                      <a:pPr>
                        <a:buNone/>
                      </a:pPr>
                      <a:r>
                        <a:rPr lang="en-IN" sz="1400"/>
                        <a:t>Testing Area</a:t>
                      </a:r>
                    </a:p>
                  </a:txBody>
                  <a:tcPr marL="71333" marR="71333" marT="35667" marB="35667" anchor="ctr"/>
                </a:tc>
                <a:tc>
                  <a:txBody>
                    <a:bodyPr/>
                    <a:lstStyle/>
                    <a:p>
                      <a:pPr>
                        <a:buNone/>
                      </a:pPr>
                      <a:r>
                        <a:rPr lang="en-IN" sz="1400"/>
                        <a:t>Validation</a:t>
                      </a:r>
                    </a:p>
                  </a:txBody>
                  <a:tcPr marL="71333" marR="71333" marT="35667" marB="35667" anchor="ctr"/>
                </a:tc>
                <a:extLst>
                  <a:ext uri="{0D108BD9-81ED-4DB2-BD59-A6C34878D82A}">
                    <a16:rowId xmlns:a16="http://schemas.microsoft.com/office/drawing/2014/main" val="3371431887"/>
                  </a:ext>
                </a:extLst>
              </a:tr>
              <a:tr h="606257">
                <a:tc>
                  <a:txBody>
                    <a:bodyPr/>
                    <a:lstStyle/>
                    <a:p>
                      <a:pPr>
                        <a:buNone/>
                      </a:pPr>
                      <a:r>
                        <a:rPr lang="en-IN" sz="1400"/>
                        <a:t>Frontend Testing</a:t>
                      </a:r>
                    </a:p>
                  </a:txBody>
                  <a:tcPr marL="71333" marR="71333" marT="35667" marB="35667" anchor="ctr"/>
                </a:tc>
                <a:tc>
                  <a:txBody>
                    <a:bodyPr/>
                    <a:lstStyle/>
                    <a:p>
                      <a:pPr>
                        <a:buNone/>
                      </a:pPr>
                      <a:r>
                        <a:rPr lang="en-IN" sz="1400"/>
                        <a:t>Verify user interface, forms, navigation, and service tracking</a:t>
                      </a:r>
                    </a:p>
                  </a:txBody>
                  <a:tcPr marL="71333" marR="71333" marT="35667" marB="35667" anchor="ctr"/>
                </a:tc>
                <a:extLst>
                  <a:ext uri="{0D108BD9-81ED-4DB2-BD59-A6C34878D82A}">
                    <a16:rowId xmlns:a16="http://schemas.microsoft.com/office/drawing/2014/main" val="372069868"/>
                  </a:ext>
                </a:extLst>
              </a:tr>
              <a:tr h="606257">
                <a:tc>
                  <a:txBody>
                    <a:bodyPr/>
                    <a:lstStyle/>
                    <a:p>
                      <a:pPr>
                        <a:buNone/>
                      </a:pPr>
                      <a:r>
                        <a:rPr lang="en-IN" sz="1400"/>
                        <a:t>API Testing</a:t>
                      </a:r>
                    </a:p>
                  </a:txBody>
                  <a:tcPr marL="71333" marR="71333" marT="35667" marB="35667" anchor="ctr"/>
                </a:tc>
                <a:tc>
                  <a:txBody>
                    <a:bodyPr/>
                    <a:lstStyle/>
                    <a:p>
                      <a:pPr>
                        <a:buNone/>
                      </a:pPr>
                      <a:r>
                        <a:rPr lang="en-IN" sz="1400"/>
                        <a:t>Test REST API requests, responses, and error handling</a:t>
                      </a:r>
                    </a:p>
                  </a:txBody>
                  <a:tcPr marL="71333" marR="71333" marT="35667" marB="35667" anchor="ctr"/>
                </a:tc>
                <a:extLst>
                  <a:ext uri="{0D108BD9-81ED-4DB2-BD59-A6C34878D82A}">
                    <a16:rowId xmlns:a16="http://schemas.microsoft.com/office/drawing/2014/main" val="3884036759"/>
                  </a:ext>
                </a:extLst>
              </a:tr>
              <a:tr h="606257">
                <a:tc>
                  <a:txBody>
                    <a:bodyPr/>
                    <a:lstStyle/>
                    <a:p>
                      <a:pPr>
                        <a:buNone/>
                      </a:pPr>
                      <a:r>
                        <a:rPr lang="en-IN" sz="1400"/>
                        <a:t>AI Testing</a:t>
                      </a:r>
                    </a:p>
                  </a:txBody>
                  <a:tcPr marL="71333" marR="71333" marT="35667" marB="35667" anchor="ctr"/>
                </a:tc>
                <a:tc>
                  <a:txBody>
                    <a:bodyPr/>
                    <a:lstStyle/>
                    <a:p>
                      <a:pPr>
                        <a:buNone/>
                      </a:pPr>
                      <a:r>
                        <a:rPr lang="en-IN" sz="1400"/>
                        <a:t>Validate problem analysis and service/provider recommendations</a:t>
                      </a:r>
                    </a:p>
                  </a:txBody>
                  <a:tcPr marL="71333" marR="71333" marT="35667" marB="35667" anchor="ctr"/>
                </a:tc>
                <a:extLst>
                  <a:ext uri="{0D108BD9-81ED-4DB2-BD59-A6C34878D82A}">
                    <a16:rowId xmlns:a16="http://schemas.microsoft.com/office/drawing/2014/main" val="1157478761"/>
                  </a:ext>
                </a:extLst>
              </a:tr>
              <a:tr h="606257">
                <a:tc>
                  <a:txBody>
                    <a:bodyPr/>
                    <a:lstStyle/>
                    <a:p>
                      <a:pPr>
                        <a:buNone/>
                      </a:pPr>
                      <a:r>
                        <a:rPr lang="en-IN" sz="1400"/>
                        <a:t>Microservice Testing</a:t>
                      </a:r>
                    </a:p>
                  </a:txBody>
                  <a:tcPr marL="71333" marR="71333" marT="35667" marB="35667" anchor="ctr"/>
                </a:tc>
                <a:tc>
                  <a:txBody>
                    <a:bodyPr/>
                    <a:lstStyle/>
                    <a:p>
                      <a:pPr>
                        <a:buNone/>
                      </a:pPr>
                      <a:r>
                        <a:rPr lang="en-IN" sz="1400"/>
                        <a:t>Verify communication and functionality of individual services</a:t>
                      </a:r>
                    </a:p>
                  </a:txBody>
                  <a:tcPr marL="71333" marR="71333" marT="35667" marB="35667" anchor="ctr"/>
                </a:tc>
                <a:extLst>
                  <a:ext uri="{0D108BD9-81ED-4DB2-BD59-A6C34878D82A}">
                    <a16:rowId xmlns:a16="http://schemas.microsoft.com/office/drawing/2014/main" val="812131296"/>
                  </a:ext>
                </a:extLst>
              </a:tr>
              <a:tr h="606257">
                <a:tc>
                  <a:txBody>
                    <a:bodyPr/>
                    <a:lstStyle/>
                    <a:p>
                      <a:pPr>
                        <a:buNone/>
                      </a:pPr>
                      <a:r>
                        <a:rPr lang="en-IN" sz="1400"/>
                        <a:t>Kafka Testing</a:t>
                      </a:r>
                    </a:p>
                  </a:txBody>
                  <a:tcPr marL="71333" marR="71333" marT="35667" marB="35667" anchor="ctr"/>
                </a:tc>
                <a:tc>
                  <a:txBody>
                    <a:bodyPr/>
                    <a:lstStyle/>
                    <a:p>
                      <a:pPr>
                        <a:buNone/>
                      </a:pPr>
                      <a:r>
                        <a:rPr lang="en-IN" sz="1400"/>
                        <a:t>Validate event publishing, consumption, and message flow</a:t>
                      </a:r>
                    </a:p>
                  </a:txBody>
                  <a:tcPr marL="71333" marR="71333" marT="35667" marB="35667" anchor="ctr"/>
                </a:tc>
                <a:extLst>
                  <a:ext uri="{0D108BD9-81ED-4DB2-BD59-A6C34878D82A}">
                    <a16:rowId xmlns:a16="http://schemas.microsoft.com/office/drawing/2014/main" val="222078482"/>
                  </a:ext>
                </a:extLst>
              </a:tr>
              <a:tr h="346433">
                <a:tc>
                  <a:txBody>
                    <a:bodyPr/>
                    <a:lstStyle/>
                    <a:p>
                      <a:pPr>
                        <a:buNone/>
                      </a:pPr>
                      <a:r>
                        <a:rPr lang="en-IN" sz="1400"/>
                        <a:t>Security Testing</a:t>
                      </a:r>
                    </a:p>
                  </a:txBody>
                  <a:tcPr marL="71333" marR="71333" marT="35667" marB="35667" anchor="ctr"/>
                </a:tc>
                <a:tc>
                  <a:txBody>
                    <a:bodyPr/>
                    <a:lstStyle/>
                    <a:p>
                      <a:pPr>
                        <a:buNone/>
                      </a:pPr>
                      <a:r>
                        <a:rPr lang="en-IN" sz="1400"/>
                        <a:t>Test JWT authentication and role-based access</a:t>
                      </a:r>
                    </a:p>
                  </a:txBody>
                  <a:tcPr marL="71333" marR="71333" marT="35667" marB="35667" anchor="ctr"/>
                </a:tc>
                <a:extLst>
                  <a:ext uri="{0D108BD9-81ED-4DB2-BD59-A6C34878D82A}">
                    <a16:rowId xmlns:a16="http://schemas.microsoft.com/office/drawing/2014/main" val="3188532565"/>
                  </a:ext>
                </a:extLst>
              </a:tr>
              <a:tr h="606257">
                <a:tc>
                  <a:txBody>
                    <a:bodyPr/>
                    <a:lstStyle/>
                    <a:p>
                      <a:pPr>
                        <a:buNone/>
                      </a:pPr>
                      <a:r>
                        <a:rPr lang="en-IN" sz="1400"/>
                        <a:t>Database Testing</a:t>
                      </a:r>
                    </a:p>
                  </a:txBody>
                  <a:tcPr marL="71333" marR="71333" marT="35667" marB="35667" anchor="ctr"/>
                </a:tc>
                <a:tc>
                  <a:txBody>
                    <a:bodyPr/>
                    <a:lstStyle/>
                    <a:p>
                      <a:pPr>
                        <a:buNone/>
                      </a:pPr>
                      <a:r>
                        <a:rPr lang="en-IN" sz="1400"/>
                        <a:t>Verify data storage, retrieval, and consistency in PostgreSQL</a:t>
                      </a:r>
                    </a:p>
                  </a:txBody>
                  <a:tcPr marL="71333" marR="71333" marT="35667" marB="35667" anchor="ctr"/>
                </a:tc>
                <a:extLst>
                  <a:ext uri="{0D108BD9-81ED-4DB2-BD59-A6C34878D82A}">
                    <a16:rowId xmlns:a16="http://schemas.microsoft.com/office/drawing/2014/main" val="1878833145"/>
                  </a:ext>
                </a:extLst>
              </a:tr>
              <a:tr h="606257">
                <a:tc>
                  <a:txBody>
                    <a:bodyPr/>
                    <a:lstStyle/>
                    <a:p>
                      <a:pPr>
                        <a:buNone/>
                      </a:pPr>
                      <a:r>
                        <a:rPr lang="en-IN" sz="1400"/>
                        <a:t>Integration Testing</a:t>
                      </a:r>
                    </a:p>
                  </a:txBody>
                  <a:tcPr marL="71333" marR="71333" marT="35667" marB="35667" anchor="ctr"/>
                </a:tc>
                <a:tc>
                  <a:txBody>
                    <a:bodyPr/>
                    <a:lstStyle/>
                    <a:p>
                      <a:pPr>
                        <a:buNone/>
                      </a:pPr>
                      <a:r>
                        <a:rPr lang="en-IN" sz="1400"/>
                        <a:t>Test complete workflow from service request to completion</a:t>
                      </a:r>
                    </a:p>
                  </a:txBody>
                  <a:tcPr marL="71333" marR="71333" marT="35667" marB="35667" anchor="ctr"/>
                </a:tc>
                <a:extLst>
                  <a:ext uri="{0D108BD9-81ED-4DB2-BD59-A6C34878D82A}">
                    <a16:rowId xmlns:a16="http://schemas.microsoft.com/office/drawing/2014/main" val="3698895804"/>
                  </a:ext>
                </a:extLst>
              </a:tr>
              <a:tr h="346433">
                <a:tc>
                  <a:txBody>
                    <a:bodyPr/>
                    <a:lstStyle/>
                    <a:p>
                      <a:pPr>
                        <a:buNone/>
                      </a:pPr>
                      <a:r>
                        <a:rPr lang="en-IN" sz="1400"/>
                        <a:t>Deployment Testing</a:t>
                      </a:r>
                    </a:p>
                  </a:txBody>
                  <a:tcPr marL="71333" marR="71333" marT="35667" marB="35667" anchor="ctr"/>
                </a:tc>
                <a:tc>
                  <a:txBody>
                    <a:bodyPr/>
                    <a:lstStyle/>
                    <a:p>
                      <a:pPr>
                        <a:buNone/>
                      </a:pPr>
                      <a:r>
                        <a:rPr lang="en-IN" sz="1400" dirty="0"/>
                        <a:t>Verify Docker containers and application execution</a:t>
                      </a:r>
                    </a:p>
                  </a:txBody>
                  <a:tcPr marL="71333" marR="71333" marT="35667" marB="35667" anchor="ctr"/>
                </a:tc>
                <a:extLst>
                  <a:ext uri="{0D108BD9-81ED-4DB2-BD59-A6C34878D82A}">
                    <a16:rowId xmlns:a16="http://schemas.microsoft.com/office/drawing/2014/main" val="2765681202"/>
                  </a:ext>
                </a:extLst>
              </a:tr>
            </a:tbl>
          </a:graphicData>
        </a:graphic>
      </p:graphicFrame>
    </p:spTree>
    <p:extLst>
      <p:ext uri="{BB962C8B-B14F-4D97-AF65-F5344CB8AC3E}">
        <p14:creationId xmlns:p14="http://schemas.microsoft.com/office/powerpoint/2010/main" val="904107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D79E4B-1F39-1191-3832-E67484E96E91}"/>
              </a:ext>
            </a:extLst>
          </p:cNvPr>
          <p:cNvSpPr txBox="1"/>
          <p:nvPr/>
        </p:nvSpPr>
        <p:spPr>
          <a:xfrm>
            <a:off x="3048000" y="3077515"/>
            <a:ext cx="6096000" cy="707886"/>
          </a:xfrm>
          <a:prstGeom prst="rect">
            <a:avLst/>
          </a:prstGeom>
          <a:noFill/>
        </p:spPr>
        <p:txBody>
          <a:bodyPr wrap="square">
            <a:spAutoFit/>
          </a:bodyPr>
          <a:lstStyle/>
          <a:p>
            <a:pPr algn="ctr"/>
            <a:r>
              <a:rPr lang="en-US" sz="4000" b="1" dirty="0"/>
              <a:t>Thank You</a:t>
            </a:r>
          </a:p>
        </p:txBody>
      </p:sp>
    </p:spTree>
    <p:extLst>
      <p:ext uri="{BB962C8B-B14F-4D97-AF65-F5344CB8AC3E}">
        <p14:creationId xmlns:p14="http://schemas.microsoft.com/office/powerpoint/2010/main" val="1173236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1168</Words>
  <Application>Microsoft Office PowerPoint</Application>
  <PresentationFormat>Widescreen</PresentationFormat>
  <Paragraphs>167</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Varshitha Manduri</cp:lastModifiedBy>
  <cp:revision>34</cp:revision>
  <dcterms:created xsi:type="dcterms:W3CDTF">2026-08-08T06:33:56Z</dcterms:created>
  <dcterms:modified xsi:type="dcterms:W3CDTF">2026-09-24T08:03:16Z</dcterms:modified>
</cp:coreProperties>
</file>