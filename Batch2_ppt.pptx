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7"/>
  </p:notesMasterIdLst>
  <p:sldIdLst>
    <p:sldId id="262" r:id="rId3"/>
    <p:sldId id="707" r:id="rId4"/>
    <p:sldId id="904" r:id="rId5"/>
    <p:sldId id="257" r:id="rId6"/>
    <p:sldId id="906" r:id="rId7"/>
    <p:sldId id="902" r:id="rId8"/>
    <p:sldId id="903" r:id="rId9"/>
    <p:sldId id="905" r:id="rId10"/>
    <p:sldId id="258" r:id="rId11"/>
    <p:sldId id="259" r:id="rId12"/>
    <p:sldId id="260" r:id="rId13"/>
    <p:sldId id="907" r:id="rId14"/>
    <p:sldId id="908" r:id="rId15"/>
    <p:sldId id="91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7206CD6-4656-48B7-981B-1C906556BF4A}" v="21" dt="2026-08-20T08:31:40.93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5033" autoAdjust="0"/>
  </p:normalViewPr>
  <p:slideViewPr>
    <p:cSldViewPr snapToGrid="0">
      <p:cViewPr varScale="1">
        <p:scale>
          <a:sx n="78" d="100"/>
          <a:sy n="78" d="100"/>
        </p:scale>
        <p:origin x="8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microsoft.com/office/2015/10/relationships/revisionInfo" Target="revisionInfo.xml"/><Relationship Id="rId10" Type="http://schemas.openxmlformats.org/officeDocument/2006/relationships/slide" Target="slides/slide8.xml"/><Relationship Id="rId19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arshitha Manduri" userId="034c70c2d5155c9d" providerId="LiveId" clId="{559CA8F6-37FB-420B-9630-7912C6D0DF0F}"/>
    <pc:docChg chg="undo custSel addSld delSld modSld sldOrd">
      <pc:chgData name="Varshitha Manduri" userId="034c70c2d5155c9d" providerId="LiveId" clId="{559CA8F6-37FB-420B-9630-7912C6D0DF0F}" dt="2026-08-20T08:31:46.804" v="338" actId="403"/>
      <pc:docMkLst>
        <pc:docMk/>
      </pc:docMkLst>
      <pc:sldChg chg="modSp mod ord">
        <pc:chgData name="Varshitha Manduri" userId="034c70c2d5155c9d" providerId="LiveId" clId="{559CA8F6-37FB-420B-9630-7912C6D0DF0F}" dt="2026-08-20T08:29:01.830" v="314" actId="113"/>
        <pc:sldMkLst>
          <pc:docMk/>
          <pc:sldMk cId="1843937772" sldId="257"/>
        </pc:sldMkLst>
        <pc:spChg chg="mod">
          <ac:chgData name="Varshitha Manduri" userId="034c70c2d5155c9d" providerId="LiveId" clId="{559CA8F6-37FB-420B-9630-7912C6D0DF0F}" dt="2026-08-20T08:29:01.830" v="314" actId="113"/>
          <ac:spMkLst>
            <pc:docMk/>
            <pc:sldMk cId="1843937772" sldId="257"/>
            <ac:spMk id="2" creationId="{A1D0E5BD-70C7-4B25-DDEF-FD2AD65A179D}"/>
          </ac:spMkLst>
        </pc:spChg>
      </pc:sldChg>
      <pc:sldChg chg="modSp mod">
        <pc:chgData name="Varshitha Manduri" userId="034c70c2d5155c9d" providerId="LiveId" clId="{559CA8F6-37FB-420B-9630-7912C6D0DF0F}" dt="2026-08-20T08:26:54.157" v="301" actId="1076"/>
        <pc:sldMkLst>
          <pc:docMk/>
          <pc:sldMk cId="2065876014" sldId="258"/>
        </pc:sldMkLst>
        <pc:spChg chg="mod">
          <ac:chgData name="Varshitha Manduri" userId="034c70c2d5155c9d" providerId="LiveId" clId="{559CA8F6-37FB-420B-9630-7912C6D0DF0F}" dt="2026-08-20T08:26:54.157" v="301" actId="1076"/>
          <ac:spMkLst>
            <pc:docMk/>
            <pc:sldMk cId="2065876014" sldId="258"/>
            <ac:spMk id="4" creationId="{52D564FF-C061-7B3C-9643-D9A201B767F0}"/>
          </ac:spMkLst>
        </pc:spChg>
      </pc:sldChg>
      <pc:sldChg chg="modSp mod">
        <pc:chgData name="Varshitha Manduri" userId="034c70c2d5155c9d" providerId="LiveId" clId="{559CA8F6-37FB-420B-9630-7912C6D0DF0F}" dt="2026-08-20T08:31:10.975" v="334" actId="1076"/>
        <pc:sldMkLst>
          <pc:docMk/>
          <pc:sldMk cId="3524135319" sldId="259"/>
        </pc:sldMkLst>
        <pc:spChg chg="mod">
          <ac:chgData name="Varshitha Manduri" userId="034c70c2d5155c9d" providerId="LiveId" clId="{559CA8F6-37FB-420B-9630-7912C6D0DF0F}" dt="2026-08-20T08:31:10.975" v="334" actId="1076"/>
          <ac:spMkLst>
            <pc:docMk/>
            <pc:sldMk cId="3524135319" sldId="259"/>
            <ac:spMk id="4" creationId="{90007D85-97FC-67CD-3558-ED4C7FC3AA57}"/>
          </ac:spMkLst>
        </pc:spChg>
      </pc:sldChg>
      <pc:sldChg chg="addSp delSp modSp mod">
        <pc:chgData name="Varshitha Manduri" userId="034c70c2d5155c9d" providerId="LiveId" clId="{559CA8F6-37FB-420B-9630-7912C6D0DF0F}" dt="2026-08-20T06:10:14.885" v="158"/>
        <pc:sldMkLst>
          <pc:docMk/>
          <pc:sldMk cId="4118855268" sldId="260"/>
        </pc:sldMkLst>
        <pc:spChg chg="del mod">
          <ac:chgData name="Varshitha Manduri" userId="034c70c2d5155c9d" providerId="LiveId" clId="{559CA8F6-37FB-420B-9630-7912C6D0DF0F}" dt="2026-08-20T06:07:58.498" v="136" actId="478"/>
          <ac:spMkLst>
            <pc:docMk/>
            <pc:sldMk cId="4118855268" sldId="260"/>
            <ac:spMk id="2" creationId="{3F0303AA-CEE8-2513-1736-59CB3A5EF8E4}"/>
          </ac:spMkLst>
        </pc:spChg>
        <pc:spChg chg="mod">
          <ac:chgData name="Varshitha Manduri" userId="034c70c2d5155c9d" providerId="LiveId" clId="{559CA8F6-37FB-420B-9630-7912C6D0DF0F}" dt="2026-08-20T06:10:04.823" v="155" actId="1076"/>
          <ac:spMkLst>
            <pc:docMk/>
            <pc:sldMk cId="4118855268" sldId="260"/>
            <ac:spMk id="5" creationId="{9EF7CE10-08D9-83CF-7508-12575531E1E0}"/>
          </ac:spMkLst>
        </pc:spChg>
        <pc:graphicFrameChg chg="add mod modGraphic">
          <ac:chgData name="Varshitha Manduri" userId="034c70c2d5155c9d" providerId="LiveId" clId="{559CA8F6-37FB-420B-9630-7912C6D0DF0F}" dt="2026-08-20T06:10:14.885" v="158"/>
          <ac:graphicFrameMkLst>
            <pc:docMk/>
            <pc:sldMk cId="4118855268" sldId="260"/>
            <ac:graphicFrameMk id="3" creationId="{8A478936-B5E5-6DF4-BD3C-DDD75DCAA928}"/>
          </ac:graphicFrameMkLst>
        </pc:graphicFrameChg>
        <pc:picChg chg="add del mod">
          <ac:chgData name="Varshitha Manduri" userId="034c70c2d5155c9d" providerId="LiveId" clId="{559CA8F6-37FB-420B-9630-7912C6D0DF0F}" dt="2026-08-20T06:08:00.131" v="137" actId="478"/>
          <ac:picMkLst>
            <pc:docMk/>
            <pc:sldMk cId="4118855268" sldId="260"/>
            <ac:picMk id="6" creationId="{EBC8D3A3-2380-B8AF-9E16-094094F2D388}"/>
          </ac:picMkLst>
        </pc:picChg>
      </pc:sldChg>
      <pc:sldChg chg="addSp delSp modSp mod">
        <pc:chgData name="Varshitha Manduri" userId="034c70c2d5155c9d" providerId="LiveId" clId="{559CA8F6-37FB-420B-9630-7912C6D0DF0F}" dt="2026-08-20T06:07:10.288" v="135" actId="1076"/>
        <pc:sldMkLst>
          <pc:docMk/>
          <pc:sldMk cId="2247602601" sldId="262"/>
        </pc:sldMkLst>
        <pc:spChg chg="mod">
          <ac:chgData name="Varshitha Manduri" userId="034c70c2d5155c9d" providerId="LiveId" clId="{559CA8F6-37FB-420B-9630-7912C6D0DF0F}" dt="2026-08-20T06:06:43.207" v="131"/>
          <ac:spMkLst>
            <pc:docMk/>
            <pc:sldMk cId="2247602601" sldId="262"/>
            <ac:spMk id="3" creationId="{981F4B29-5201-966E-CBCD-FBEEB0D16700}"/>
          </ac:spMkLst>
        </pc:spChg>
        <pc:spChg chg="mod">
          <ac:chgData name="Varshitha Manduri" userId="034c70c2d5155c9d" providerId="LiveId" clId="{559CA8F6-37FB-420B-9630-7912C6D0DF0F}" dt="2026-08-20T06:06:43.207" v="131"/>
          <ac:spMkLst>
            <pc:docMk/>
            <pc:sldMk cId="2247602601" sldId="262"/>
            <ac:spMk id="5" creationId="{DAB0FF87-ED3C-950D-6F92-A4BA6425B32E}"/>
          </ac:spMkLst>
        </pc:spChg>
        <pc:spChg chg="mod">
          <ac:chgData name="Varshitha Manduri" userId="034c70c2d5155c9d" providerId="LiveId" clId="{559CA8F6-37FB-420B-9630-7912C6D0DF0F}" dt="2026-08-20T06:06:48.860" v="132"/>
          <ac:spMkLst>
            <pc:docMk/>
            <pc:sldMk cId="2247602601" sldId="262"/>
            <ac:spMk id="8" creationId="{6D10E859-388A-0D8D-9159-8F06CFA9E6C1}"/>
          </ac:spMkLst>
        </pc:spChg>
        <pc:spChg chg="mod">
          <ac:chgData name="Varshitha Manduri" userId="034c70c2d5155c9d" providerId="LiveId" clId="{559CA8F6-37FB-420B-9630-7912C6D0DF0F}" dt="2026-08-20T06:06:48.860" v="132"/>
          <ac:spMkLst>
            <pc:docMk/>
            <pc:sldMk cId="2247602601" sldId="262"/>
            <ac:spMk id="9" creationId="{91492453-103C-DE82-C18C-D28EF83BC8B5}"/>
          </ac:spMkLst>
        </pc:spChg>
        <pc:grpChg chg="add mod">
          <ac:chgData name="Varshitha Manduri" userId="034c70c2d5155c9d" providerId="LiveId" clId="{559CA8F6-37FB-420B-9630-7912C6D0DF0F}" dt="2026-08-20T06:06:43.207" v="131"/>
          <ac:grpSpMkLst>
            <pc:docMk/>
            <pc:sldMk cId="2247602601" sldId="262"/>
            <ac:grpSpMk id="2" creationId="{7D8550AA-D82D-BA44-3C72-E5849717B41B}"/>
          </ac:grpSpMkLst>
        </pc:grpChg>
        <pc:grpChg chg="add mod">
          <ac:chgData name="Varshitha Manduri" userId="034c70c2d5155c9d" providerId="LiveId" clId="{559CA8F6-37FB-420B-9630-7912C6D0DF0F}" dt="2026-08-20T06:07:10.288" v="135" actId="1076"/>
          <ac:grpSpMkLst>
            <pc:docMk/>
            <pc:sldMk cId="2247602601" sldId="262"/>
            <ac:grpSpMk id="6" creationId="{32073324-CF6A-D32B-5314-1A02E772D7A6}"/>
          </ac:grpSpMkLst>
        </pc:grpChg>
      </pc:sldChg>
      <pc:sldChg chg="modSp mod">
        <pc:chgData name="Varshitha Manduri" userId="034c70c2d5155c9d" providerId="LiveId" clId="{559CA8F6-37FB-420B-9630-7912C6D0DF0F}" dt="2026-08-20T06:25:14.364" v="275" actId="20577"/>
        <pc:sldMkLst>
          <pc:docMk/>
          <pc:sldMk cId="3029277067" sldId="902"/>
        </pc:sldMkLst>
        <pc:graphicFrameChg chg="mod modGraphic">
          <ac:chgData name="Varshitha Manduri" userId="034c70c2d5155c9d" providerId="LiveId" clId="{559CA8F6-37FB-420B-9630-7912C6D0DF0F}" dt="2026-08-20T06:25:14.364" v="275" actId="20577"/>
          <ac:graphicFrameMkLst>
            <pc:docMk/>
            <pc:sldMk cId="3029277067" sldId="902"/>
            <ac:graphicFrameMk id="4" creationId="{AACD11AD-3AF5-B626-2B60-0567E4585BB7}"/>
          </ac:graphicFrameMkLst>
        </pc:graphicFrameChg>
      </pc:sldChg>
      <pc:sldChg chg="ord">
        <pc:chgData name="Varshitha Manduri" userId="034c70c2d5155c9d" providerId="LiveId" clId="{559CA8F6-37FB-420B-9630-7912C6D0DF0F}" dt="2026-08-20T06:11:57.919" v="198"/>
        <pc:sldMkLst>
          <pc:docMk/>
          <pc:sldMk cId="3917782940" sldId="903"/>
        </pc:sldMkLst>
      </pc:sldChg>
      <pc:sldChg chg="ord">
        <pc:chgData name="Varshitha Manduri" userId="034c70c2d5155c9d" providerId="LiveId" clId="{559CA8F6-37FB-420B-9630-7912C6D0DF0F}" dt="2026-08-20T06:11:48.656" v="196"/>
        <pc:sldMkLst>
          <pc:docMk/>
          <pc:sldMk cId="3381156569" sldId="904"/>
        </pc:sldMkLst>
      </pc:sldChg>
      <pc:sldChg chg="modSp mod">
        <pc:chgData name="Varshitha Manduri" userId="034c70c2d5155c9d" providerId="LiveId" clId="{559CA8F6-37FB-420B-9630-7912C6D0DF0F}" dt="2026-08-20T08:31:46.804" v="338" actId="403"/>
        <pc:sldMkLst>
          <pc:docMk/>
          <pc:sldMk cId="1852516337" sldId="905"/>
        </pc:sldMkLst>
        <pc:spChg chg="mod">
          <ac:chgData name="Varshitha Manduri" userId="034c70c2d5155c9d" providerId="LiveId" clId="{559CA8F6-37FB-420B-9630-7912C6D0DF0F}" dt="2026-08-20T08:31:46.804" v="338" actId="403"/>
          <ac:spMkLst>
            <pc:docMk/>
            <pc:sldMk cId="1852516337" sldId="905"/>
            <ac:spMk id="8" creationId="{F9B337AC-CDD2-BBF4-310D-FA0FABC7725B}"/>
          </ac:spMkLst>
        </pc:spChg>
      </pc:sldChg>
      <pc:sldChg chg="modSp mod ord">
        <pc:chgData name="Varshitha Manduri" userId="034c70c2d5155c9d" providerId="LiveId" clId="{559CA8F6-37FB-420B-9630-7912C6D0DF0F}" dt="2026-08-20T08:30:16.533" v="326" actId="1076"/>
        <pc:sldMkLst>
          <pc:docMk/>
          <pc:sldMk cId="3740540086" sldId="906"/>
        </pc:sldMkLst>
        <pc:spChg chg="mod">
          <ac:chgData name="Varshitha Manduri" userId="034c70c2d5155c9d" providerId="LiveId" clId="{559CA8F6-37FB-420B-9630-7912C6D0DF0F}" dt="2026-08-20T08:30:16.533" v="326" actId="1076"/>
          <ac:spMkLst>
            <pc:docMk/>
            <pc:sldMk cId="3740540086" sldId="906"/>
            <ac:spMk id="8" creationId="{8596BF14-C93D-E0E9-E7C4-0740BA25623B}"/>
          </ac:spMkLst>
        </pc:spChg>
      </pc:sldChg>
      <pc:sldChg chg="addSp delSp modSp new mod ord">
        <pc:chgData name="Varshitha Manduri" userId="034c70c2d5155c9d" providerId="LiveId" clId="{559CA8F6-37FB-420B-9630-7912C6D0DF0F}" dt="2026-08-20T06:10:47.206" v="164"/>
        <pc:sldMkLst>
          <pc:docMk/>
          <pc:sldMk cId="2724529524" sldId="907"/>
        </pc:sldMkLst>
        <pc:spChg chg="add mod">
          <ac:chgData name="Varshitha Manduri" userId="034c70c2d5155c9d" providerId="LiveId" clId="{559CA8F6-37FB-420B-9630-7912C6D0DF0F}" dt="2026-08-14T08:27:45.665" v="75" actId="1076"/>
          <ac:spMkLst>
            <pc:docMk/>
            <pc:sldMk cId="2724529524" sldId="907"/>
            <ac:spMk id="5" creationId="{1BFCEB68-E932-C4F7-9D8A-6EFAE16747C1}"/>
          </ac:spMkLst>
        </pc:spChg>
        <pc:spChg chg="add mod">
          <ac:chgData name="Varshitha Manduri" userId="034c70c2d5155c9d" providerId="LiveId" clId="{559CA8F6-37FB-420B-9630-7912C6D0DF0F}" dt="2026-08-14T08:28:16.636" v="83" actId="20577"/>
          <ac:spMkLst>
            <pc:docMk/>
            <pc:sldMk cId="2724529524" sldId="907"/>
            <ac:spMk id="7" creationId="{EFA1A0E0-75DD-BC4F-04E1-2B75EFE93D00}"/>
          </ac:spMkLst>
        </pc:spChg>
      </pc:sldChg>
      <pc:sldChg chg="addSp delSp modSp new mod ord">
        <pc:chgData name="Varshitha Manduri" userId="034c70c2d5155c9d" providerId="LiveId" clId="{559CA8F6-37FB-420B-9630-7912C6D0DF0F}" dt="2026-08-20T06:10:37.751" v="160"/>
        <pc:sldMkLst>
          <pc:docMk/>
          <pc:sldMk cId="4287357462" sldId="908"/>
        </pc:sldMkLst>
        <pc:spChg chg="add mod">
          <ac:chgData name="Varshitha Manduri" userId="034c70c2d5155c9d" providerId="LiveId" clId="{559CA8F6-37FB-420B-9630-7912C6D0DF0F}" dt="2026-08-14T08:37:44.021" v="109" actId="1076"/>
          <ac:spMkLst>
            <pc:docMk/>
            <pc:sldMk cId="4287357462" sldId="908"/>
            <ac:spMk id="5" creationId="{C6E77906-66E5-200F-01FF-82F78D84F83F}"/>
          </ac:spMkLst>
        </pc:spChg>
        <pc:spChg chg="add mod">
          <ac:chgData name="Varshitha Manduri" userId="034c70c2d5155c9d" providerId="LiveId" clId="{559CA8F6-37FB-420B-9630-7912C6D0DF0F}" dt="2026-08-14T08:37:41.668" v="108" actId="1076"/>
          <ac:spMkLst>
            <pc:docMk/>
            <pc:sldMk cId="4287357462" sldId="908"/>
            <ac:spMk id="7" creationId="{B255C79A-E4D3-1F99-8AAD-81CB2CC3C7D2}"/>
          </ac:spMkLst>
        </pc:spChg>
      </pc:sldChg>
      <pc:sldChg chg="addSp delSp modSp new del mod ord">
        <pc:chgData name="Varshitha Manduri" userId="034c70c2d5155c9d" providerId="LiveId" clId="{559CA8F6-37FB-420B-9630-7912C6D0DF0F}" dt="2026-08-20T06:12:10.999" v="199" actId="47"/>
        <pc:sldMkLst>
          <pc:docMk/>
          <pc:sldMk cId="890558119" sldId="909"/>
        </pc:sldMkLst>
      </pc:sldChg>
      <pc:sldChg chg="addSp delSp modSp new mod">
        <pc:chgData name="Varshitha Manduri" userId="034c70c2d5155c9d" providerId="LiveId" clId="{559CA8F6-37FB-420B-9630-7912C6D0DF0F}" dt="2026-08-20T06:11:28.498" v="192" actId="1076"/>
        <pc:sldMkLst>
          <pc:docMk/>
          <pc:sldMk cId="230252284" sldId="910"/>
        </pc:sldMkLst>
        <pc:spChg chg="del">
          <ac:chgData name="Varshitha Manduri" userId="034c70c2d5155c9d" providerId="LiveId" clId="{559CA8F6-37FB-420B-9630-7912C6D0DF0F}" dt="2026-08-20T06:11:05.408" v="166" actId="478"/>
          <ac:spMkLst>
            <pc:docMk/>
            <pc:sldMk cId="230252284" sldId="910"/>
            <ac:spMk id="2" creationId="{D3E42F52-BA9E-7569-F007-9B32884F67FF}"/>
          </ac:spMkLst>
        </pc:spChg>
        <pc:spChg chg="del">
          <ac:chgData name="Varshitha Manduri" userId="034c70c2d5155c9d" providerId="LiveId" clId="{559CA8F6-37FB-420B-9630-7912C6D0DF0F}" dt="2026-08-20T06:11:07.451" v="167" actId="478"/>
          <ac:spMkLst>
            <pc:docMk/>
            <pc:sldMk cId="230252284" sldId="910"/>
            <ac:spMk id="3" creationId="{6E6361E5-96B2-55A5-1B9C-56527CC16354}"/>
          </ac:spMkLst>
        </pc:spChg>
        <pc:spChg chg="add mod">
          <ac:chgData name="Varshitha Manduri" userId="034c70c2d5155c9d" providerId="LiveId" clId="{559CA8F6-37FB-420B-9630-7912C6D0DF0F}" dt="2026-08-20T06:11:28.498" v="192" actId="1076"/>
          <ac:spMkLst>
            <pc:docMk/>
            <pc:sldMk cId="230252284" sldId="910"/>
            <ac:spMk id="4" creationId="{9DBF0D2A-A731-CFEF-B003-CB70C474810E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4B03022-1F30-4885-B78F-22C04F8A973E}" type="doc">
      <dgm:prSet loTypeId="urn:microsoft.com/office/officeart/2005/8/layout/venn3" loCatId="relationship" qsTypeId="urn:microsoft.com/office/officeart/2005/8/quickstyle/3d7" qsCatId="3D" csTypeId="urn:microsoft.com/office/officeart/2005/8/colors/colorful1" csCatId="colorful" phldr="1"/>
      <dgm:spPr/>
      <dgm:t>
        <a:bodyPr/>
        <a:lstStyle/>
        <a:p>
          <a:endParaRPr lang="en-IN"/>
        </a:p>
      </dgm:t>
    </dgm:pt>
    <dgm:pt modelId="{4094C340-BA43-4FE7-BEDC-37D235AAAD16}" type="pres">
      <dgm:prSet presAssocID="{84B03022-1F30-4885-B78F-22C04F8A973E}" presName="Name0" presStyleCnt="0">
        <dgm:presLayoutVars>
          <dgm:dir/>
          <dgm:resizeHandles val="exact"/>
        </dgm:presLayoutVars>
      </dgm:prSet>
      <dgm:spPr/>
    </dgm:pt>
  </dgm:ptLst>
  <dgm:cxnLst>
    <dgm:cxn modelId="{536B444D-E965-4C7A-901B-8D59695FE972}" type="presOf" srcId="{84B03022-1F30-4885-B78F-22C04F8A973E}" destId="{4094C340-BA43-4FE7-BEDC-37D235AAAD16}" srcOrd="0" destOrd="0" presId="urn:microsoft.com/office/officeart/2005/8/layout/venn3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enn3">
  <dgm:title val=""/>
  <dgm:desc val=""/>
  <dgm:catLst>
    <dgm:cat type="relationship" pri="2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>
          <dgm:param type="fallback" val="2D"/>
        </dgm:alg>
      </dgm:if>
      <dgm:else name="Name3">
        <dgm:alg type="lin">
          <dgm:param type="fallback" val="2D"/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refType="w" refFor="ch" refPtType="node"/>
      <dgm:constr type="w" for="ch" forName="space" refType="w" refFor="ch" refPtType="node" fact="-0.2"/>
      <dgm:constr type="primFontSz" for="ch" ptType="node" op="equ" val="65"/>
    </dgm:constrLst>
    <dgm:ruleLst/>
    <dgm:forEach name="Name4" axis="ch" ptType="node">
      <dgm:layoutNode name="Name5" styleLbl="vennNode1">
        <dgm:varLst>
          <dgm:bulletEnabled val="1"/>
        </dgm:varLst>
        <dgm:alg type="tx">
          <dgm:param type="txAnchorVertCh" val="mid"/>
          <dgm:param type="txAnchorHorzCh" val="ctr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tMarg" refType="primFontSz" fact="0.1"/>
          <dgm:constr type="bMarg" refType="primFontSz" fact="0.1"/>
          <dgm:constr type="lMarg" refType="w" fact="0.156"/>
          <dgm:constr type="rMarg" refType="w" fact="0.156"/>
        </dgm:constrLst>
        <dgm:ruleLst>
          <dgm:rule type="primFontSz" val="5" fact="NaN" max="NaN"/>
        </dgm:ruleLst>
      </dgm:layoutNode>
      <dgm:forEach name="Name6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7">
  <dgm:title val=""/>
  <dgm:desc val=""/>
  <dgm:catLst>
    <dgm:cat type="3D" pri="11700"/>
  </dgm:catLst>
  <dgm:scene3d>
    <a:camera prst="perspectiveLeft" zoom="91000"/>
    <a:lightRig rig="threePt" dir="t">
      <a:rot lat="0" lon="0" rev="20640000"/>
    </a:lightRig>
  </dgm:scene3d>
  <dgm:styleLbl name="node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threePt" dir="t"/>
    </dgm:scene3d>
    <dgm:sp3d extrusionH="50600" prstMaterial="clear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 z="572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2118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 z="106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 z="-2118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0000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extrusionH="50600">
      <a:bevelT w="101600" h="80600"/>
      <a:bevelB w="80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50600">
      <a:bevelT w="101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161800" extrusionH="10600" contourW="3000">
      <a:bevelT w="48600" h="8600" prst="softRound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161800" extrusionH="10600" contourW="3000">
      <a:bevelT w="48600" h="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1618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50600">
      <a:bevelT w="80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7200" extrusionH="600" contourW="3000" prstMaterial="plastic">
      <a:bevelT w="80600" h="18600" prst="relaxedInset"/>
      <a:bevelB w="80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A666E0-C270-4F2D-A5DC-96BE795B540E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19044B-B5AF-477C-950C-4ED5126343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86060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84AE20-9EAE-4BB7-93AC-7EFA05BCA1CF}" type="slidenum">
              <a:rPr lang="en-IN" smtClean="0"/>
              <a:t>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274734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162C7A-CC9D-4035-A213-68F795EB7A2A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77035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E2BE77-A6B4-BF9A-F59F-6A1C17E6D4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F4D497-63DE-C270-40A4-331A37D0B0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809C3A-1739-D230-186B-84454F605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A63778-C058-1235-D3A3-7BCFF3CD01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9A1708-DD63-B8A6-CDE5-A057B2CF8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86997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A0280-1254-E679-102E-D8CC13C8C6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784D78-2E62-1C74-D557-5115FDC295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B02B77-F303-2F09-80CB-35B74D2F58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3359BF-B012-085F-389A-331E721BC9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1B0460-9CE8-D43D-79E7-A7A9144A3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1623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787D46-3DEF-526E-5F46-4ADACBEC0A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5A517A-D5B3-3AF2-38BE-1D89988138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602125-0289-3272-156D-A3C31E8482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9971A6-CC5A-CC09-A1F2-E284284E8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9898D5-FC90-9DA1-FE2F-D07DEDDAD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9524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89433-0D52-95EF-D78E-4FC912D4FC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1A2DAE-6EF3-6910-5373-1A5DF40909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91AE70-38B9-B797-DE71-57CAE4C82D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25E50E-F402-07A4-460F-3431CA999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4D7A32-7B4B-0167-CBD3-4FB4F42F73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EB928D-DF00-B9C5-1A36-1E52C14CB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71984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1CFE06-EEED-5CC3-A38A-576DD2C8AF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B0BA8C-9EDE-BB49-BD35-49BAFCB8D3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1DDD39-7D2C-4493-F56F-81F6BC3F98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714469B-6213-D34D-07A9-FCDC82AC0F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46440F3-3F2D-85CC-D2E2-6D0D54B8A2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D346DE1-9818-60AF-EAF8-FFED39BA5E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65E9E00-6460-F360-EDFD-B03FBA2C6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ABFFDD7-5BFE-EA3B-6250-A381A5695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62514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CE0FC-511C-2C2C-E510-CDDF26341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796671-3C71-777F-3A4D-A89D7E5D68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024A6A-95A8-2753-339B-FC09D4CAE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9E07AF-B1A0-E180-D5AC-3F2F0031C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4662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8527A8-9BA5-6E6B-9B96-E6F6FADC4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EAB8C98-6C07-7CF9-228C-EF7E65147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347070-DD15-038E-31F6-EF9EAD920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3214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528049-15BD-A06B-510D-51342C765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77F51D-EFF8-F91B-8F7D-613493BF84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43686E-4EC3-3B25-F2B1-DEF00AA476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24C9A3-A390-80A1-50AD-21AB6B2525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3FB16C-3A67-2F8D-2205-B1FF3BE2C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137A69-0E62-6668-A184-42A6DBF6B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4807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AFB01-3CD4-CFD9-5A71-411262FAAC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9DCEFF8-AB3F-42A6-ADAF-1080336CCB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914F7C-5D5A-7C5D-50F2-B5067E1E61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E767C3-2493-217A-8E1D-03F6BBB4AC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8FEBF7-64BD-7F85-1240-C02E3705BD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064DB1-56E3-B1C9-BED9-904A25C29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29736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EBCD61-B1C9-A34D-6022-ADB9D4B22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24F7E8-10E7-E6C8-474D-2A06ED5015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E7D405-5D32-C40F-1430-5F5A97DD4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D9955A-6D2E-8ABB-AF09-EC9590F01F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9E1B21-A5D1-C625-FE7B-A0232576A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78863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5699036-2042-AC93-5117-4059611F3C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2DD23D-712F-710C-F8D8-B4B2B3E059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095516-E45F-6DA1-08EA-04E781DF5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171DB9-D5C7-9EFA-0532-06B0BAAF4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735D92-5A89-BE34-CC33-93F56B3ED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7349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6EA6A-8FF5-49DF-BDDD-F7431B447D8F}" type="datetime3">
              <a:rPr lang="en-US" smtClean="0"/>
              <a:t>20 August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08602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11EB6-9770-43AB-BBCE-044F1DB66B82}" type="datetime3">
              <a:rPr lang="en-US" smtClean="0"/>
              <a:t>20 August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82983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905DC-9CDD-41AE-979C-F366BC0443ED}" type="datetime3">
              <a:rPr lang="en-US" smtClean="0"/>
              <a:t>20 August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99230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FAC05-A025-4B8A-AB88-2AE8812F8A48}" type="datetime3">
              <a:rPr lang="en-US" smtClean="0"/>
              <a:t>20 August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19083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906D5-6813-455D-BAA0-28A983958C32}" type="datetime3">
              <a:rPr lang="en-US" smtClean="0"/>
              <a:t>20 August 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848570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309C4-DF5F-4FAA-9214-A2117415D598}" type="datetime3">
              <a:rPr lang="en-US" smtClean="0"/>
              <a:t>20 August 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388491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83E30-D762-4164-BBF9-9799116ED611}" type="datetime3">
              <a:rPr lang="en-US" smtClean="0"/>
              <a:t>20 August 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188672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EB4AA-F6FE-4EF1-9FE6-D5606E858D35}" type="datetime3">
              <a:rPr lang="en-US" smtClean="0"/>
              <a:t>20 August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749178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547F9-D0DE-4919-BAA4-23065C38E70B}" type="datetime3">
              <a:rPr lang="en-US" smtClean="0"/>
              <a:t>20 August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633191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D9772-7494-4C65-A0D8-1FBD740B2E65}" type="datetime3">
              <a:rPr lang="en-US" smtClean="0"/>
              <a:t>20 August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758400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089DC-0019-49C7-8AD2-EF5D896393D8}" type="datetime3">
              <a:rPr lang="en-US" smtClean="0"/>
              <a:t>20 August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45954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9711898-360B-AD49-DD62-FA3B7B6626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2BE89-A274-4461-2B81-5058744631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4B2A70-C1DC-D783-67E1-97822E79A5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27863A-4956-4659-9192-3D74DA4F7578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C5D01A-229C-E067-7B4E-BC254D6544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741767-E51C-1DAB-E3C8-F047E87A83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637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16266A-CA82-4709-A4C2-B8B2AD8F4816}" type="datetime3">
              <a:rPr lang="en-US" smtClean="0"/>
              <a:t>20 August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37664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hyperlink" Target="https://svgsilh.com/03a9f4/image/98809.html" TargetMode="External"/><Relationship Id="rId7" Type="http://schemas.openxmlformats.org/officeDocument/2006/relationships/diagramColors" Target="../diagrams/colors1.xml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8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Relationship Id="rId9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hyperlink" Target="https://docs.spring.io/spring-security/reference/?utm_source=chatgpt.com" TargetMode="External"/><Relationship Id="rId3" Type="http://schemas.openxmlformats.org/officeDocument/2006/relationships/hyperlink" Target="https://spring.io/projects/spring-cloud?utm_source=chatgpt.com" TargetMode="External"/><Relationship Id="rId7" Type="http://schemas.openxmlformats.org/officeDocument/2006/relationships/hyperlink" Target="https://www.postgresql.org/docs/?utm_source=chatgpt.com" TargetMode="External"/><Relationship Id="rId2" Type="http://schemas.openxmlformats.org/officeDocument/2006/relationships/hyperlink" Target="https://docs.spring.io/spring-boot/docs/current/reference/html/?utm_source=chatgpt.com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react.dev/?utm_source=chatgpt.com" TargetMode="External"/><Relationship Id="rId5" Type="http://schemas.openxmlformats.org/officeDocument/2006/relationships/hyperlink" Target="https://kafka.apache.org/documentation/?utm_source=chatgpt.com" TargetMode="External"/><Relationship Id="rId10" Type="http://schemas.openxmlformats.org/officeDocument/2006/relationships/hyperlink" Target="https://platform.openai.com/docs/?utm_source=chatgpt.com" TargetMode="External"/><Relationship Id="rId4" Type="http://schemas.openxmlformats.org/officeDocument/2006/relationships/hyperlink" Target="https://docs.spring.io/spring-ai/reference/?utm_source=chatgpt.com" TargetMode="External"/><Relationship Id="rId9" Type="http://schemas.openxmlformats.org/officeDocument/2006/relationships/hyperlink" Target="https://docs.docker.com/?utm_source=chatgpt.com" TargetMode="Externa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500C0830-A1CA-96AE-68D2-18C57ABE4802}"/>
              </a:ext>
            </a:extLst>
          </p:cNvPr>
          <p:cNvSpPr txBox="1"/>
          <p:nvPr/>
        </p:nvSpPr>
        <p:spPr>
          <a:xfrm>
            <a:off x="2995612" y="2868213"/>
            <a:ext cx="6200774" cy="492443"/>
          </a:xfrm>
          <a:prstGeom prst="rect">
            <a:avLst/>
          </a:prstGeom>
          <a:noFill/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txBody>
          <a:bodyPr wrap="square">
            <a:spAutoFit/>
          </a:bodyPr>
          <a:lstStyle/>
          <a:p>
            <a:pPr algn="ctr"/>
            <a:endParaRPr lang="en-IN" sz="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Date&amp; Time</a:t>
            </a:r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BD22BC4D-4857-7D81-7819-37B7BB4264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5006263"/>
              </p:ext>
            </p:extLst>
          </p:nvPr>
        </p:nvGraphicFramePr>
        <p:xfrm>
          <a:off x="8398355" y="4113530"/>
          <a:ext cx="3702050" cy="260794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702050">
                  <a:extLst>
                    <a:ext uri="{9D8B030D-6E8A-4147-A177-3AD203B41FA5}">
                      <a16:colId xmlns:a16="http://schemas.microsoft.com/office/drawing/2014/main" val="40058472"/>
                    </a:ext>
                  </a:extLst>
                </a:gridCol>
              </a:tblGrid>
              <a:tr h="75236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Team Members :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b="1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Anakala</a:t>
                      </a:r>
                      <a:r>
                        <a:rPr lang="en-IN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Sarayu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2420030249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Manduri Varshitha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2420030269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Divya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2420030287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08782725"/>
                  </a:ext>
                </a:extLst>
              </a:tr>
            </a:tbl>
          </a:graphicData>
        </a:graphic>
      </p:graphicFrame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9091FADF-77DB-CB1D-CD72-56C53CF763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6113246"/>
              </p:ext>
            </p:extLst>
          </p:nvPr>
        </p:nvGraphicFramePr>
        <p:xfrm>
          <a:off x="-795813" y="4774125"/>
          <a:ext cx="5902325" cy="1366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73565">
                  <a:extLst>
                    <a:ext uri="{9D8B030D-6E8A-4147-A177-3AD203B41FA5}">
                      <a16:colId xmlns:a16="http://schemas.microsoft.com/office/drawing/2014/main" val="40058472"/>
                    </a:ext>
                  </a:extLst>
                </a:gridCol>
                <a:gridCol w="4528760">
                  <a:extLst>
                    <a:ext uri="{9D8B030D-6E8A-4147-A177-3AD203B41FA5}">
                      <a16:colId xmlns:a16="http://schemas.microsoft.com/office/drawing/2014/main" val="1330242319"/>
                    </a:ext>
                  </a:extLst>
                </a:gridCol>
              </a:tblGrid>
              <a:tr h="1332118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sz="500" b="1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IN" sz="16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Under the Guidance of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b="1" dirty="0" err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Dr.Neelima</a:t>
                      </a:r>
                      <a:r>
                        <a:rPr lang="en-US" sz="1400" b="1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 Gogineni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SOA Professor, 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b="1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Department of </a:t>
                      </a:r>
                      <a:r>
                        <a:rPr lang="en-US" sz="1400" b="1" dirty="0">
                          <a:solidFill>
                            <a:prstClr val="black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Computer Science and Engineering, 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KLH CSE </a:t>
                      </a:r>
                      <a:r>
                        <a:rPr lang="en-US" sz="1400" dirty="0" err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Bowrampet</a:t>
                      </a:r>
                      <a:r>
                        <a:rPr lang="en-US" sz="14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 Campus</a:t>
                      </a:r>
                      <a:endParaRPr lang="en-US" sz="14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08782725"/>
                  </a:ext>
                </a:extLst>
              </a:tr>
            </a:tbl>
          </a:graphicData>
        </a:graphic>
      </p:graphicFrame>
      <p:sp>
        <p:nvSpPr>
          <p:cNvPr id="34" name="Date Placeholder 33">
            <a:extLst>
              <a:ext uri="{FF2B5EF4-FFF2-40B4-BE49-F238E27FC236}">
                <a16:creationId xmlns:a16="http://schemas.microsoft.com/office/drawing/2014/main" id="{C1554CCE-4DF8-89E6-E0F6-3C2A1439C7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b="1" dirty="0"/>
              <a:t>Date</a:t>
            </a:r>
            <a:endParaRPr lang="en-IN" b="1" dirty="0"/>
          </a:p>
        </p:txBody>
      </p:sp>
      <p:sp>
        <p:nvSpPr>
          <p:cNvPr id="35" name="Footer Placeholder 34">
            <a:extLst>
              <a:ext uri="{FF2B5EF4-FFF2-40B4-BE49-F238E27FC236}">
                <a16:creationId xmlns:a16="http://schemas.microsoft.com/office/drawing/2014/main" id="{8FB49AA0-2464-6225-6B6C-063F9A6ECD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b="1" dirty="0"/>
              <a:t>SOA Project Review-1</a:t>
            </a:r>
          </a:p>
        </p:txBody>
      </p:sp>
      <p:sp>
        <p:nvSpPr>
          <p:cNvPr id="36" name="Slide Number Placeholder 35">
            <a:extLst>
              <a:ext uri="{FF2B5EF4-FFF2-40B4-BE49-F238E27FC236}">
                <a16:creationId xmlns:a16="http://schemas.microsoft.com/office/drawing/2014/main" id="{28F834F9-83AA-E3F9-773A-4B7A83B34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1</a:t>
            </a:fld>
            <a:endParaRPr lang="en-IN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EE5F681-D3B5-BC4B-8AA4-5688DCEEFB44}"/>
              </a:ext>
            </a:extLst>
          </p:cNvPr>
          <p:cNvSpPr/>
          <p:nvPr/>
        </p:nvSpPr>
        <p:spPr>
          <a:xfrm>
            <a:off x="638175" y="769267"/>
            <a:ext cx="10915650" cy="985640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4782FAE-AFAF-27B2-2591-CFAF7695BD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D4CF64F-3FB6-0CE4-B778-63C5D5A1D343}"/>
              </a:ext>
            </a:extLst>
          </p:cNvPr>
          <p:cNvSpPr txBox="1"/>
          <p:nvPr/>
        </p:nvSpPr>
        <p:spPr>
          <a:xfrm>
            <a:off x="505065" y="678672"/>
            <a:ext cx="10715625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algn="ctr">
              <a:defRPr/>
            </a:pPr>
            <a:r>
              <a:rPr lang="en-IN" sz="3600" dirty="0">
                <a:solidFill>
                  <a:schemeClr val="bg1"/>
                </a:solidFill>
              </a:rPr>
              <a:t>Fixora AI – An Intelligent Home Repair and Service Discovery &amp; Coordination Engine</a:t>
            </a:r>
          </a:p>
          <a:p>
            <a:pPr lvl="1" algn="ctr">
              <a:defRPr/>
            </a:pP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Poppins" pitchFamily="2" charset="7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25BC1A0-FDE4-1557-375E-6E0BD69BC77B}"/>
              </a:ext>
            </a:extLst>
          </p:cNvPr>
          <p:cNvSpPr txBox="1"/>
          <p:nvPr/>
        </p:nvSpPr>
        <p:spPr>
          <a:xfrm>
            <a:off x="738187" y="2246806"/>
            <a:ext cx="1071562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SOA Project Review-1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7D8550AA-D82D-BA44-3C72-E5849717B41B}"/>
              </a:ext>
            </a:extLst>
          </p:cNvPr>
          <p:cNvGrpSpPr/>
          <p:nvPr/>
        </p:nvGrpSpPr>
        <p:grpSpPr>
          <a:xfrm>
            <a:off x="442519" y="4562547"/>
            <a:ext cx="230240" cy="232995"/>
            <a:chOff x="1567861" y="1613059"/>
            <a:chExt cx="230240" cy="232995"/>
          </a:xfrm>
          <a:solidFill>
            <a:srgbClr val="00B0F0"/>
          </a:solidFill>
        </p:grpSpPr>
        <p:sp>
          <p:nvSpPr>
            <p:cNvPr id="3" name="Isosceles Triangle 2">
              <a:extLst>
                <a:ext uri="{FF2B5EF4-FFF2-40B4-BE49-F238E27FC236}">
                  <a16:creationId xmlns:a16="http://schemas.microsoft.com/office/drawing/2014/main" id="{981F4B29-5201-966E-CBCD-FBEEB0D16700}"/>
                </a:ext>
              </a:extLst>
            </p:cNvPr>
            <p:cNvSpPr/>
            <p:nvPr/>
          </p:nvSpPr>
          <p:spPr>
            <a:xfrm rot="8294948">
              <a:off x="1567861" y="1613059"/>
              <a:ext cx="160845" cy="232995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highlight>
                  <a:srgbClr val="FFFF00"/>
                </a:highlight>
              </a:endParaRPr>
            </a:p>
          </p:txBody>
        </p:sp>
        <p:sp>
          <p:nvSpPr>
            <p:cNvPr id="5" name="Isosceles Triangle 4">
              <a:extLst>
                <a:ext uri="{FF2B5EF4-FFF2-40B4-BE49-F238E27FC236}">
                  <a16:creationId xmlns:a16="http://schemas.microsoft.com/office/drawing/2014/main" id="{DAB0FF87-ED3C-950D-6F92-A4BA6425B32E}"/>
                </a:ext>
              </a:extLst>
            </p:cNvPr>
            <p:cNvSpPr/>
            <p:nvPr/>
          </p:nvSpPr>
          <p:spPr>
            <a:xfrm rot="11852143">
              <a:off x="1683856" y="1639371"/>
              <a:ext cx="114245" cy="153379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32073324-CF6A-D32B-5314-1A02E772D7A6}"/>
              </a:ext>
            </a:extLst>
          </p:cNvPr>
          <p:cNvGrpSpPr/>
          <p:nvPr/>
        </p:nvGrpSpPr>
        <p:grpSpPr>
          <a:xfrm>
            <a:off x="8283235" y="3912813"/>
            <a:ext cx="230240" cy="232995"/>
            <a:chOff x="1567861" y="1613059"/>
            <a:chExt cx="230240" cy="232995"/>
          </a:xfrm>
          <a:solidFill>
            <a:srgbClr val="FF66FF"/>
          </a:solidFill>
        </p:grpSpPr>
        <p:sp>
          <p:nvSpPr>
            <p:cNvPr id="8" name="Isosceles Triangle 7">
              <a:extLst>
                <a:ext uri="{FF2B5EF4-FFF2-40B4-BE49-F238E27FC236}">
                  <a16:creationId xmlns:a16="http://schemas.microsoft.com/office/drawing/2014/main" id="{6D10E859-388A-0D8D-9159-8F06CFA9E6C1}"/>
                </a:ext>
              </a:extLst>
            </p:cNvPr>
            <p:cNvSpPr/>
            <p:nvPr/>
          </p:nvSpPr>
          <p:spPr>
            <a:xfrm rot="8294948">
              <a:off x="1567861" y="1613059"/>
              <a:ext cx="160845" cy="232995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highlight>
                  <a:srgbClr val="FFFF00"/>
                </a:highlight>
              </a:endParaRPr>
            </a:p>
          </p:txBody>
        </p:sp>
        <p:sp>
          <p:nvSpPr>
            <p:cNvPr id="9" name="Isosceles Triangle 8">
              <a:extLst>
                <a:ext uri="{FF2B5EF4-FFF2-40B4-BE49-F238E27FC236}">
                  <a16:creationId xmlns:a16="http://schemas.microsoft.com/office/drawing/2014/main" id="{91492453-103C-DE82-C18C-D28EF83BC8B5}"/>
                </a:ext>
              </a:extLst>
            </p:cNvPr>
            <p:cNvSpPr/>
            <p:nvPr/>
          </p:nvSpPr>
          <p:spPr>
            <a:xfrm rot="11852143">
              <a:off x="1683856" y="1639371"/>
              <a:ext cx="114245" cy="153379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</p:spTree>
    <p:extLst>
      <p:ext uri="{BB962C8B-B14F-4D97-AF65-F5344CB8AC3E}">
        <p14:creationId xmlns:p14="http://schemas.microsoft.com/office/powerpoint/2010/main" val="22476026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6FAE64B-DFA9-4528-D74E-DAEA88C008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14-08-2026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222DE7-17C6-1B7E-71C0-2347B0AA2C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20A00F-144B-157D-A12F-7CF90703C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A3A418F-4DEE-4BB1-940B-1145D135750E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797C6D7-F4DC-4908-B610-D10EE43A9B41}"/>
              </a:ext>
            </a:extLst>
          </p:cNvPr>
          <p:cNvSpPr txBox="1"/>
          <p:nvPr/>
        </p:nvSpPr>
        <p:spPr>
          <a:xfrm>
            <a:off x="3020906" y="173546"/>
            <a:ext cx="5854242" cy="646331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3600" b="1" i="0" u="none" strike="noStrike" kern="1200" cap="none" spc="0" normalizeH="0" baseline="0" noProof="0" dirty="0">
                <a:ln w="0"/>
                <a:solidFill>
                  <a:srgbClr val="4472C4"/>
                </a:solidFill>
                <a:effectLst/>
                <a:uLnTx/>
                <a:uFillTx/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</a:rPr>
              <a:t>Outline of Project Work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B25CDE63-8DDC-4AC4-7713-9D89D6D0F4B1}"/>
              </a:ext>
            </a:extLst>
          </p:cNvPr>
          <p:cNvGrpSpPr/>
          <p:nvPr/>
        </p:nvGrpSpPr>
        <p:grpSpPr>
          <a:xfrm>
            <a:off x="2001361" y="1377996"/>
            <a:ext cx="6784432" cy="4438977"/>
            <a:chOff x="1929643" y="1656655"/>
            <a:chExt cx="6784432" cy="4438977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C0A4CA55-824E-91B2-D5F9-032778D4B8B3}"/>
                </a:ext>
              </a:extLst>
            </p:cNvPr>
            <p:cNvSpPr txBox="1"/>
            <p:nvPr/>
          </p:nvSpPr>
          <p:spPr>
            <a:xfrm>
              <a:off x="2675533" y="3257433"/>
              <a:ext cx="4267376" cy="960328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Challenges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EE7E17B2-5AF8-C463-91C3-5B87FC773369}"/>
                </a:ext>
              </a:extLst>
            </p:cNvPr>
            <p:cNvSpPr txBox="1"/>
            <p:nvPr/>
          </p:nvSpPr>
          <p:spPr>
            <a:xfrm>
              <a:off x="2922896" y="3753448"/>
              <a:ext cx="4374693" cy="873572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Research Objectives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6D160BA9-A291-1BA5-C03E-7218C2169C28}"/>
                </a:ext>
              </a:extLst>
            </p:cNvPr>
            <p:cNvSpPr txBox="1"/>
            <p:nvPr/>
          </p:nvSpPr>
          <p:spPr>
            <a:xfrm>
              <a:off x="3139925" y="4332926"/>
              <a:ext cx="4529560" cy="937693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Conclusion &amp; Future Work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6C792DA3-F484-948A-E346-F158FE24CE3F}"/>
                </a:ext>
              </a:extLst>
            </p:cNvPr>
            <p:cNvSpPr txBox="1"/>
            <p:nvPr/>
          </p:nvSpPr>
          <p:spPr>
            <a:xfrm>
              <a:off x="3426151" y="4880317"/>
              <a:ext cx="4774676" cy="91973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References</a:t>
              </a:r>
              <a:b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</a:b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957E2443-43F4-3FA3-6C83-796D6B456220}"/>
                </a:ext>
              </a:extLst>
            </p:cNvPr>
            <p:cNvSpPr txBox="1"/>
            <p:nvPr/>
          </p:nvSpPr>
          <p:spPr>
            <a:xfrm>
              <a:off x="3822549" y="5483028"/>
              <a:ext cx="4891526" cy="612604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Publications Details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pic>
          <p:nvPicPr>
            <p:cNvPr id="7" name="Graphic 6">
              <a:extLst>
                <a:ext uri="{FF2B5EF4-FFF2-40B4-BE49-F238E27FC236}">
                  <a16:creationId xmlns:a16="http://schemas.microsoft.com/office/drawing/2014/main" id="{FEE87FCF-6A51-9005-163C-5E3B5C1257B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8229530" y="5002476"/>
              <a:ext cx="455841" cy="536286"/>
            </a:xfrm>
            <a:prstGeom prst="rect">
              <a:avLst/>
            </a:prstGeom>
          </p:spPr>
        </p:pic>
        <p:sp>
          <p:nvSpPr>
            <p:cNvPr id="28" name="Content Placeholder 11">
              <a:extLst>
                <a:ext uri="{FF2B5EF4-FFF2-40B4-BE49-F238E27FC236}">
                  <a16:creationId xmlns:a16="http://schemas.microsoft.com/office/drawing/2014/main" id="{F1211E34-5F1E-9B5C-4C59-2549F412DCD1}"/>
                </a:ext>
              </a:extLst>
            </p:cNvPr>
            <p:cNvSpPr txBox="1">
              <a:spLocks/>
            </p:cNvSpPr>
            <p:nvPr/>
          </p:nvSpPr>
          <p:spPr>
            <a:xfrm>
              <a:off x="1929643" y="1656655"/>
              <a:ext cx="3548330" cy="748994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 cap="flat" cmpd="sng" algn="ctr">
              <a:solidFill>
                <a:schemeClr val="accent4"/>
              </a:solidFill>
              <a:prstDash val="solid"/>
              <a:miter lim="800000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Focus</a:t>
              </a: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31" name="Content Placeholder 11">
              <a:extLst>
                <a:ext uri="{FF2B5EF4-FFF2-40B4-BE49-F238E27FC236}">
                  <a16:creationId xmlns:a16="http://schemas.microsoft.com/office/drawing/2014/main" id="{4D713724-2EA7-CA04-47B9-F63B3DAC496D}"/>
                </a:ext>
              </a:extLst>
            </p:cNvPr>
            <p:cNvSpPr txBox="1">
              <a:spLocks/>
            </p:cNvSpPr>
            <p:nvPr/>
          </p:nvSpPr>
          <p:spPr>
            <a:xfrm>
              <a:off x="2209801" y="2217836"/>
              <a:ext cx="3886200" cy="66622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 cap="flat" cmpd="sng" algn="ctr">
              <a:solidFill>
                <a:schemeClr val="accent4"/>
              </a:solidFill>
              <a:prstDash val="solid"/>
              <a:miter lim="800000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Introduction</a:t>
              </a: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pic>
          <p:nvPicPr>
            <p:cNvPr id="36" name="Graphic 35">
              <a:extLst>
                <a:ext uri="{FF2B5EF4-FFF2-40B4-BE49-F238E27FC236}">
                  <a16:creationId xmlns:a16="http://schemas.microsoft.com/office/drawing/2014/main" id="{55B3B570-3194-94D5-869B-2F3E3E133BA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7683523" y="4358877"/>
              <a:ext cx="455841" cy="536286"/>
            </a:xfrm>
            <a:prstGeom prst="rect">
              <a:avLst/>
            </a:prstGeom>
          </p:spPr>
        </p:pic>
        <p:pic>
          <p:nvPicPr>
            <p:cNvPr id="37" name="Graphic 36">
              <a:extLst>
                <a:ext uri="{FF2B5EF4-FFF2-40B4-BE49-F238E27FC236}">
                  <a16:creationId xmlns:a16="http://schemas.microsoft.com/office/drawing/2014/main" id="{A01B3509-5090-7764-12FF-0CDB13E360A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7229942" y="3813495"/>
              <a:ext cx="455841" cy="536286"/>
            </a:xfrm>
            <a:prstGeom prst="rect">
              <a:avLst/>
            </a:prstGeom>
          </p:spPr>
        </p:pic>
        <p:pic>
          <p:nvPicPr>
            <p:cNvPr id="38" name="Graphic 37">
              <a:extLst>
                <a:ext uri="{FF2B5EF4-FFF2-40B4-BE49-F238E27FC236}">
                  <a16:creationId xmlns:a16="http://schemas.microsoft.com/office/drawing/2014/main" id="{4A5FDD7E-5A46-92A5-C963-19E091BBF72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6863353" y="3200501"/>
              <a:ext cx="455841" cy="536286"/>
            </a:xfrm>
            <a:prstGeom prst="rect">
              <a:avLst/>
            </a:prstGeom>
          </p:spPr>
        </p:pic>
        <p:pic>
          <p:nvPicPr>
            <p:cNvPr id="39" name="Graphic 38">
              <a:extLst>
                <a:ext uri="{FF2B5EF4-FFF2-40B4-BE49-F238E27FC236}">
                  <a16:creationId xmlns:a16="http://schemas.microsoft.com/office/drawing/2014/main" id="{C50C5009-E2F0-E358-4C45-CAEADDEC93B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6443196" y="2766955"/>
              <a:ext cx="455841" cy="536286"/>
            </a:xfrm>
            <a:prstGeom prst="rect">
              <a:avLst/>
            </a:prstGeom>
          </p:spPr>
        </p:pic>
        <p:pic>
          <p:nvPicPr>
            <p:cNvPr id="40" name="Graphic 39">
              <a:extLst>
                <a:ext uri="{FF2B5EF4-FFF2-40B4-BE49-F238E27FC236}">
                  <a16:creationId xmlns:a16="http://schemas.microsoft.com/office/drawing/2014/main" id="{F1D91F2F-C2FB-3146-467B-21A20C8410D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6040392" y="2252522"/>
              <a:ext cx="455841" cy="536286"/>
            </a:xfrm>
            <a:prstGeom prst="rect">
              <a:avLst/>
            </a:prstGeom>
          </p:spPr>
        </p:pic>
        <p:pic>
          <p:nvPicPr>
            <p:cNvPr id="41" name="Graphic 40">
              <a:extLst>
                <a:ext uri="{FF2B5EF4-FFF2-40B4-BE49-F238E27FC236}">
                  <a16:creationId xmlns:a16="http://schemas.microsoft.com/office/drawing/2014/main" id="{7B0FD951-BFA0-1228-E572-2BFE866AEE7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5626122" y="1721293"/>
              <a:ext cx="455841" cy="536286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576F380C-3238-E430-3C22-3C23884CE532}"/>
                </a:ext>
              </a:extLst>
            </p:cNvPr>
            <p:cNvSpPr txBox="1"/>
            <p:nvPr/>
          </p:nvSpPr>
          <p:spPr>
            <a:xfrm>
              <a:off x="2490411" y="2773626"/>
              <a:ext cx="4004225" cy="50687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4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Literature Survey</a:t>
              </a:r>
              <a:endParaRPr kumimoji="0" lang="en-US" sz="204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</p:grpSp>
      <p:graphicFrame>
        <p:nvGraphicFramePr>
          <p:cNvPr id="26" name="Diagram 25">
            <a:extLst>
              <a:ext uri="{FF2B5EF4-FFF2-40B4-BE49-F238E27FC236}">
                <a16:creationId xmlns:a16="http://schemas.microsoft.com/office/drawing/2014/main" id="{C044B753-17EC-8A45-927F-C44CC40ED5BA}"/>
              </a:ext>
            </a:extLst>
          </p:cNvPr>
          <p:cNvGraphicFramePr/>
          <p:nvPr/>
        </p:nvGraphicFramePr>
        <p:xfrm>
          <a:off x="41510" y="115414"/>
          <a:ext cx="1474694" cy="9423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0B4D1914-919F-D842-1FC2-1BBFC0E95C2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249380" y="0"/>
            <a:ext cx="190111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9694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9DF60A5-5C53-9CD0-71BA-40B4AA7614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83E30-D762-4164-BBF9-9799116ED611}" type="datetime3">
              <a:rPr lang="en-US" smtClean="0"/>
              <a:t>20 August 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94E0D6-B7B5-85F1-6170-437B0F3C6B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C910D1-CA98-EA0B-E6C9-62910006F9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3</a:t>
            </a:fld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0D1F818-8DBC-8F2B-E239-6658640969C4}"/>
              </a:ext>
            </a:extLst>
          </p:cNvPr>
          <p:cNvSpPr txBox="1"/>
          <p:nvPr/>
        </p:nvSpPr>
        <p:spPr>
          <a:xfrm>
            <a:off x="5348749" y="136525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/>
              <a:t>Focus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B821B22-04E8-606F-F28F-C001547D5F63}"/>
              </a:ext>
            </a:extLst>
          </p:cNvPr>
          <p:cNvSpPr txBox="1"/>
          <p:nvPr/>
        </p:nvSpPr>
        <p:spPr>
          <a:xfrm>
            <a:off x="1356853" y="782856"/>
            <a:ext cx="9320980" cy="54508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dirty="0"/>
              <a:t>The core focus of </a:t>
            </a:r>
            <a:r>
              <a:rPr lang="en-IN" b="1" dirty="0"/>
              <a:t>Fixora AI</a:t>
            </a:r>
            <a:r>
              <a:rPr lang="en-IN" dirty="0"/>
              <a:t> is to </a:t>
            </a:r>
            <a:r>
              <a:rPr lang="en-IN" b="1" dirty="0"/>
              <a:t>intelligently understand a user's home repair problem and coordinate the most suitable service for it</a:t>
            </a:r>
            <a:r>
              <a:rPr lang="en-IN" dirty="0"/>
              <a:t>.</a:t>
            </a:r>
          </a:p>
          <a:p>
            <a:pPr>
              <a:lnSpc>
                <a:spcPct val="150000"/>
              </a:lnSpc>
              <a:buNone/>
            </a:pPr>
            <a:r>
              <a:rPr lang="en-IN" dirty="0"/>
              <a:t>The project mainly focuses on:</a:t>
            </a: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</a:pPr>
            <a:r>
              <a:rPr lang="en-IN" b="1" dirty="0"/>
              <a:t>AI-Based Problem Understanding</a:t>
            </a:r>
            <a:r>
              <a:rPr lang="en-IN" dirty="0"/>
              <a:t> – User describes the issue in normal language, and the LLM identifies the repair/service requirement. </a:t>
            </a: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</a:pPr>
            <a:r>
              <a:rPr lang="en-IN" b="1" dirty="0"/>
              <a:t>Smart Service Recommendation</a:t>
            </a:r>
            <a:r>
              <a:rPr lang="en-IN" dirty="0"/>
              <a:t> – Recommend the appropriate service category and suitable service providers based on the identified problem. </a:t>
            </a: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</a:pPr>
            <a:r>
              <a:rPr lang="en-IN" b="1" dirty="0"/>
              <a:t>Automated Service Coordination</a:t>
            </a:r>
            <a:r>
              <a:rPr lang="en-IN" dirty="0"/>
              <a:t> – Coordinate service requests, provider responses, confirmations, and status updates. </a:t>
            </a: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</a:pPr>
            <a:r>
              <a:rPr lang="en-IN" b="1" dirty="0"/>
              <a:t>Real-Time Event Processing</a:t>
            </a:r>
            <a:r>
              <a:rPr lang="en-IN" dirty="0"/>
              <a:t> – Use </a:t>
            </a:r>
            <a:r>
              <a:rPr lang="en-IN" b="1" dirty="0"/>
              <a:t>Apache Kafka</a:t>
            </a:r>
            <a:r>
              <a:rPr lang="en-IN" dirty="0"/>
              <a:t> to handle service-request events and real-time updates efficiently. </a:t>
            </a: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</a:pPr>
            <a:r>
              <a:rPr lang="en-IN" b="1" dirty="0"/>
              <a:t>End-to-End Service Flow</a:t>
            </a:r>
            <a:r>
              <a:rPr lang="en-IN" dirty="0"/>
              <a:t> – Manage the complete flow from </a:t>
            </a:r>
            <a:r>
              <a:rPr lang="en-IN" b="1" dirty="0"/>
              <a:t>problem reporting → AI analysis → service matching → provider coordination → service completion</a:t>
            </a:r>
            <a:r>
              <a:rPr lang="en-IN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811565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8C8F81-5402-FBBE-D32A-834F3C6033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DBD4C9C-9DEB-26F4-AA75-F51C06DD64DC}"/>
              </a:ext>
            </a:extLst>
          </p:cNvPr>
          <p:cNvSpPr txBox="1"/>
          <p:nvPr/>
        </p:nvSpPr>
        <p:spPr>
          <a:xfrm>
            <a:off x="3736259" y="0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/>
              <a:t>Problem Statement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7A614DC-364B-1BD9-B452-BC2E55FD9D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1D0E5BD-70C7-4B25-DDEF-FD2AD65A179D}"/>
              </a:ext>
            </a:extLst>
          </p:cNvPr>
          <p:cNvSpPr txBox="1"/>
          <p:nvPr/>
        </p:nvSpPr>
        <p:spPr>
          <a:xfrm>
            <a:off x="786580" y="754937"/>
            <a:ext cx="10343536" cy="57708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Home repair services are often difficult to discover, compare, and coordinate.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Users may struggle to find suitable providers, understand requirements, and track service requests.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Traditional methods depend on manual communication, causing delays and poor coordination.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 err="1"/>
              <a:t>Fixora</a:t>
            </a:r>
            <a:r>
              <a:rPr lang="en-IN" dirty="0"/>
              <a:t> AI connects users with suitable home repair and service providers.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Spring AI &amp; LLM APIs understand user requirements and recommend relevant services.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Apache Kafka enables real-time communication and event processing.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Spring Boot &amp; Spring Cloud provide scalable backend services.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React.js provides an interactive user interface.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PostgreSQL securely stores user and service data.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Spring Security &amp; JWT provide secure authentication.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Docker supports consistent deployment.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Goal: Simplify home service discovery, recommendation, and coordination through an intelligent and scalable platform.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439377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DD84E83-FE99-17D8-CA04-921431E795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83E30-D762-4164-BBF9-9799116ED611}" type="datetime3">
              <a:rPr lang="en-US" smtClean="0"/>
              <a:t>20 August 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E5A8E8B-058F-D1B3-59F7-B8993AC84A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2A4C3B-C894-3C7F-BDBD-47C83716A6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5</a:t>
            </a:fld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2734360-1909-D32C-8AE8-27721275933D}"/>
              </a:ext>
            </a:extLst>
          </p:cNvPr>
          <p:cNvSpPr txBox="1"/>
          <p:nvPr/>
        </p:nvSpPr>
        <p:spPr>
          <a:xfrm>
            <a:off x="4807975" y="46563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/>
              <a:t>Introduction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596BF14-C93D-E0E9-E7C4-0740BA25623B}"/>
              </a:ext>
            </a:extLst>
          </p:cNvPr>
          <p:cNvSpPr txBox="1"/>
          <p:nvPr/>
        </p:nvSpPr>
        <p:spPr>
          <a:xfrm>
            <a:off x="838200" y="591447"/>
            <a:ext cx="11152239" cy="5866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 err="1"/>
              <a:t>Fixora</a:t>
            </a:r>
            <a:r>
              <a:rPr lang="en-IN" dirty="0"/>
              <a:t> AI is an intelligent home repair and service discovery platform that helps users find suitable services for their repair needs.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Users can describe their problem in simple natural language instead of searching through multiple service providers.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Spring AI and LLM APIs </a:t>
            </a:r>
            <a:r>
              <a:rPr lang="en-IN" dirty="0" err="1"/>
              <a:t>analyze</a:t>
            </a:r>
            <a:r>
              <a:rPr lang="en-IN" dirty="0"/>
              <a:t> user requirements, identify the appropriate service category, and provide relevant recommendations.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Apache Kafka enables real-time processing of service requests, provider responses, notifications, and status updates.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Spring Boot and Spring Cloud provide a modular and scalable backend architecture.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React.js provides an interactive and user-friendly interface.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PostgreSQL stores users, service providers, requests, bookings, and service details.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Spring Security with JWT ensures secure authentication and authorization.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Docker containerizes application components for easier deployment and configuration.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Overall goal: Reduce user effort and improve the speed and efficiency of home service discovery and coordination.</a:t>
            </a:r>
          </a:p>
        </p:txBody>
      </p:sp>
    </p:spTree>
    <p:extLst>
      <p:ext uri="{BB962C8B-B14F-4D97-AF65-F5344CB8AC3E}">
        <p14:creationId xmlns:p14="http://schemas.microsoft.com/office/powerpoint/2010/main" val="37405400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ACD11AD-3AF5-B626-2B60-0567E4585BB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63786512"/>
              </p:ext>
            </p:extLst>
          </p:nvPr>
        </p:nvGraphicFramePr>
        <p:xfrm>
          <a:off x="108076" y="665753"/>
          <a:ext cx="11975845" cy="5417117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4221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752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767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3597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865714">
                  <a:extLst>
                    <a:ext uri="{9D8B030D-6E8A-4147-A177-3AD203B41FA5}">
                      <a16:colId xmlns:a16="http://schemas.microsoft.com/office/drawing/2014/main" val="1396003017"/>
                    </a:ext>
                  </a:extLst>
                </a:gridCol>
              </a:tblGrid>
              <a:tr h="3879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/>
                        <a:t>Authors</a:t>
                      </a:r>
                      <a:endParaRPr lang="en-IN" sz="120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/>
                        <a:t>Title of the Paper</a:t>
                      </a:r>
                      <a:endParaRPr lang="en-IN" sz="120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/>
                        <a:t>Methodology</a:t>
                      </a:r>
                      <a:endParaRPr lang="en-IN" sz="120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/>
                        <a:t>Inferences</a:t>
                      </a:r>
                      <a:endParaRPr lang="en-IN" sz="120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dirty="0"/>
                        <a:t>Limitation / Future Work </a:t>
                      </a:r>
                      <a:endParaRPr lang="en-IN" sz="1200" dirty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419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/>
                        <a:t>Jaime D. L. Caro et al.</a:t>
                      </a:r>
                      <a:endParaRPr lang="en-IN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/>
                        <a:t>HomeWorks: Designing Mobile Applications to Introduce a Digital Platform for the Household Services Sector</a:t>
                      </a:r>
                      <a:endParaRPr lang="en-IN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Proposes a digital platform connecting household service seekers with service providers. It includes service requests, provider applications, ratings, personalized recommendations, geolocation, payments, communication, and authentication.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A centralized household-service platform can improve accessibility, communication, transparency, and provider discovery. Personalized recommendations and geolocation can make service selection more efficient.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The platform mainly relies on predefined service requests and conventional recommendation mechanisms. </a:t>
                      </a:r>
                      <a:r>
                        <a:rPr lang="en-IN" sz="1200" b="1" dirty="0" err="1"/>
                        <a:t>Fixora</a:t>
                      </a:r>
                      <a:r>
                        <a:rPr lang="en-IN" sz="1200" b="1" dirty="0"/>
                        <a:t> AI can improve this by allowing users to describe repair problems in natural language, automatically identifying the service category, and intelligently matching suitable providers.</a:t>
                      </a:r>
                      <a:endParaRPr lang="en-IN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4155954"/>
                  </a:ext>
                </a:extLst>
              </a:tr>
              <a:tr h="13546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/>
                        <a:t>Rhea Nayang Tortor, Rodri Temprosa Alviar, Eayan Earl Golifardo Dacian, Paul Andrei Rabe Pelaez et al.</a:t>
                      </a:r>
                      <a:endParaRPr lang="en-IN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/>
                        <a:t>DSERV: Home Service Booking System with Geolocation for Serviceable Area Detection</a:t>
                      </a:r>
                      <a:endParaRPr lang="en-IN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Develops a home-service booking system that uses </a:t>
                      </a:r>
                      <a:r>
                        <a:rPr lang="en-IN" sz="1200" b="1" dirty="0"/>
                        <a:t>geolocation</a:t>
                      </a:r>
                      <a:r>
                        <a:rPr lang="en-IN" sz="1200" dirty="0"/>
                        <a:t> to determine whether a service can be provided in a particular area. It focuses on connecting customers with service providers based on serviceability.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Location is an important factor when selecting and assigning home-service providers because providers need to operate within a serviceable area.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Geolocation-based matching alone does not understand the actual repair problem or provider expertise. </a:t>
                      </a:r>
                      <a:r>
                        <a:rPr lang="en-IN" sz="1200" b="1"/>
                        <a:t>Fixora AI can combine location with AI-based problem classification, provider skills, availability, ratings, and service requirements for better recommendations.</a:t>
                      </a:r>
                      <a:endParaRPr lang="en-IN" sz="12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55426370"/>
                  </a:ext>
                </a:extLst>
              </a:tr>
              <a:tr h="13546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/>
                        <a:t>Chun Cheng Lin, Yi Chun Peng, Zhen Yin Annie Chen, Pei Yu Liu</a:t>
                      </a:r>
                      <a:endParaRPr lang="en-IN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/>
                        <a:t>Crowdsourcing Home Healthcare Service: Matching Caretakers With Caregivers for Jointly Rostering and Routing</a:t>
                      </a:r>
                      <a:endParaRPr lang="en-IN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Proposes a real-time home-service matching system that matches customers and service providers based on preferences, skills, constraints, location, scheduling, and routing. It uses optimization techniques for provider assignment and scheduling.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Effective service-provider matching should consider multiple factors such as provider skills, customer preferences, scheduling, and location rather than using a single matching criterion.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The paper focuses on </a:t>
                      </a:r>
                      <a:r>
                        <a:rPr lang="en-IN" sz="1200" b="1" dirty="0"/>
                        <a:t>home healthcare</a:t>
                      </a:r>
                      <a:r>
                        <a:rPr lang="en-IN" sz="1200" dirty="0"/>
                        <a:t>, not household repair services. </a:t>
                      </a:r>
                      <a:r>
                        <a:rPr lang="en-IN" sz="1200" b="1" dirty="0" err="1"/>
                        <a:t>Fixora</a:t>
                      </a:r>
                      <a:r>
                        <a:rPr lang="en-IN" sz="1200" b="1" dirty="0"/>
                        <a:t> AI can adapt multi-factor matching to plumbing, electrical, appliance repair, carpentry, etc., and additionally use Spring AI/LLMs to understand the user's repair description and Apache Kafka for real-time requests, provider responses, and status updates.</a:t>
                      </a:r>
                      <a:endParaRPr lang="en-IN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41575018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C48F0022-391A-4CFC-2851-87E76B37EAC2}"/>
              </a:ext>
            </a:extLst>
          </p:cNvPr>
          <p:cNvSpPr txBox="1"/>
          <p:nvPr/>
        </p:nvSpPr>
        <p:spPr>
          <a:xfrm>
            <a:off x="4560565" y="136525"/>
            <a:ext cx="30708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solidFill>
                  <a:srgbClr val="0064C8"/>
                </a:solidFill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</a:rPr>
              <a:t>Literature Survey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A0FDE360-66C4-26CA-5DB9-8E99C2685B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0F095753-622E-2BA7-9495-60F9B6E57F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9784944-5437-9E89-7017-F3DB9CA91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A418F-4DEE-4BB1-940B-1145D135750E}" type="slidenum">
              <a:rPr lang="en-IN" smtClean="0"/>
              <a:t>6</a:t>
            </a:fld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F3EBAEA-8DC6-8F54-F0D6-38F9643BD4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92770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4AF34-8CFC-8161-A3CD-DED259C92A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F508849-A0DD-12D4-FD0D-5322CA138B2F}"/>
              </a:ext>
            </a:extLst>
          </p:cNvPr>
          <p:cNvSpPr txBox="1"/>
          <p:nvPr/>
        </p:nvSpPr>
        <p:spPr>
          <a:xfrm>
            <a:off x="2816940" y="36109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Objectives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B2C6E66-DFCA-CBBA-3972-F62C5800AE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F652BE4-8BEF-487F-5AC3-CDE466E71714}"/>
              </a:ext>
            </a:extLst>
          </p:cNvPr>
          <p:cNvSpPr txBox="1"/>
          <p:nvPr/>
        </p:nvSpPr>
        <p:spPr>
          <a:xfrm>
            <a:off x="703006" y="799531"/>
            <a:ext cx="10785988" cy="58693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Intelligent Service Discovery</a:t>
            </a:r>
            <a:r>
              <a:rPr lang="en-IN" dirty="0"/>
              <a:t> – Help users quickly find suitable home repair services based on their requirements.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AI-Powered Recommendations</a:t>
            </a:r>
            <a:r>
              <a:rPr lang="en-IN" dirty="0"/>
              <a:t> – Use </a:t>
            </a:r>
            <a:r>
              <a:rPr lang="en-IN" b="1" dirty="0"/>
              <a:t>Spring AI and LLM APIs</a:t>
            </a:r>
            <a:r>
              <a:rPr lang="en-IN" dirty="0"/>
              <a:t> to understand user queries and suggest relevant services.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Real-Time Coordination</a:t>
            </a:r>
            <a:r>
              <a:rPr lang="en-IN" dirty="0"/>
              <a:t> – Use </a:t>
            </a:r>
            <a:r>
              <a:rPr lang="en-IN" b="1" dirty="0"/>
              <a:t>Apache Kafka</a:t>
            </a:r>
            <a:r>
              <a:rPr lang="en-IN" dirty="0"/>
              <a:t> to process service requests, notifications, and status updates in real time.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Scalable Architecture</a:t>
            </a:r>
            <a:r>
              <a:rPr lang="en-IN" dirty="0"/>
              <a:t> – Build independent and scalable services using </a:t>
            </a:r>
            <a:r>
              <a:rPr lang="en-IN" b="1" dirty="0"/>
              <a:t>Spring Boot and Spring Cloud</a:t>
            </a:r>
            <a:r>
              <a:rPr lang="en-IN" dirty="0"/>
              <a:t>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Secure User Access</a:t>
            </a:r>
            <a:r>
              <a:rPr lang="en-IN" dirty="0"/>
              <a:t> – Implement </a:t>
            </a:r>
            <a:r>
              <a:rPr lang="en-IN" b="1" dirty="0"/>
              <a:t>Spring Security and JWT</a:t>
            </a:r>
            <a:r>
              <a:rPr lang="en-IN" dirty="0"/>
              <a:t> for secure authentication and authorization.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Efficient Data Management</a:t>
            </a:r>
            <a:r>
              <a:rPr lang="en-IN" dirty="0"/>
              <a:t> – Use </a:t>
            </a:r>
            <a:r>
              <a:rPr lang="en-IN" b="1" dirty="0"/>
              <a:t>PostgreSQL</a:t>
            </a:r>
            <a:r>
              <a:rPr lang="en-IN" dirty="0"/>
              <a:t> to store user, service, provider, request, and transaction-related data.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User-Friendly Interface</a:t>
            </a:r>
            <a:r>
              <a:rPr lang="en-IN" dirty="0"/>
              <a:t> – Develop a responsive and easy-to-use interface using </a:t>
            </a:r>
            <a:r>
              <a:rPr lang="en-IN" b="1" dirty="0"/>
              <a:t>React.js</a:t>
            </a:r>
            <a:r>
              <a:rPr lang="en-IN" dirty="0"/>
              <a:t>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Reliable Deployment</a:t>
            </a:r>
            <a:r>
              <a:rPr lang="en-IN" dirty="0"/>
              <a:t> – Use </a:t>
            </a:r>
            <a:r>
              <a:rPr lang="en-IN" b="1" dirty="0"/>
              <a:t>Docker</a:t>
            </a:r>
            <a:r>
              <a:rPr lang="en-IN" dirty="0"/>
              <a:t> to containerize application services and simplify deployment.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Reduce Service Coordination Effort</a:t>
            </a:r>
            <a:r>
              <a:rPr lang="en-IN" dirty="0"/>
              <a:t> – Minimize manual communication and make the process of requesting and coordinating home repair services faster and more convenient.</a:t>
            </a:r>
          </a:p>
        </p:txBody>
      </p:sp>
    </p:spTree>
    <p:extLst>
      <p:ext uri="{BB962C8B-B14F-4D97-AF65-F5344CB8AC3E}">
        <p14:creationId xmlns:p14="http://schemas.microsoft.com/office/powerpoint/2010/main" val="39177829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8F01C22-B0EB-4B90-1673-C2544D005B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83E30-D762-4164-BBF9-9799116ED611}" type="datetime3">
              <a:rPr lang="en-US" smtClean="0"/>
              <a:t>20 August 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67CC88E-9991-144A-28D4-126ADEE20B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FDEEF4-FCCC-D298-875D-8B916D6A14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8</a:t>
            </a:fld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57522CC-BE1D-CBB3-A7EE-7AEF33A0361B}"/>
              </a:ext>
            </a:extLst>
          </p:cNvPr>
          <p:cNvSpPr txBox="1"/>
          <p:nvPr/>
        </p:nvSpPr>
        <p:spPr>
          <a:xfrm>
            <a:off x="4591665" y="-9443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/>
              <a:t>Challenges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9B337AC-CDD2-BBF4-310D-FA0FABC7725B}"/>
              </a:ext>
            </a:extLst>
          </p:cNvPr>
          <p:cNvSpPr txBox="1"/>
          <p:nvPr/>
        </p:nvSpPr>
        <p:spPr>
          <a:xfrm>
            <a:off x="838200" y="530294"/>
            <a:ext cx="10766323" cy="5866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Home repair services are often </a:t>
            </a:r>
            <a:r>
              <a:rPr lang="en-IN" b="1" dirty="0"/>
              <a:t>fragmented</a:t>
            </a:r>
            <a:r>
              <a:rPr lang="en-IN" dirty="0"/>
              <a:t>, making it difficult to find reliable providers, identify the right service, compare options, and schedule appointments.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Manual communication through calls and messages can cause </a:t>
            </a:r>
            <a:r>
              <a:rPr lang="en-IN" b="1" dirty="0"/>
              <a:t>delays, unclear requirements, missed updates, and poor coordination</a:t>
            </a:r>
            <a:r>
              <a:rPr lang="en-IN" dirty="0"/>
              <a:t>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 err="1"/>
              <a:t>Fixora</a:t>
            </a:r>
            <a:r>
              <a:rPr lang="en-IN" b="1" dirty="0"/>
              <a:t> AI</a:t>
            </a:r>
            <a:r>
              <a:rPr lang="en-IN" dirty="0"/>
              <a:t> addresses these issues through intelligent service discovery and coordination.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Spring AI and LLM APIs</a:t>
            </a:r>
            <a:r>
              <a:rPr lang="en-IN" dirty="0"/>
              <a:t> </a:t>
            </a:r>
            <a:r>
              <a:rPr lang="en-IN" dirty="0" err="1"/>
              <a:t>analyze</a:t>
            </a:r>
            <a:r>
              <a:rPr lang="en-IN" dirty="0"/>
              <a:t> user requirements and recommend suitable services.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Apache Kafka</a:t>
            </a:r>
            <a:r>
              <a:rPr lang="en-IN" dirty="0"/>
              <a:t> enables real-time event communication and service updates.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Spring Boot and Spring Cloud</a:t>
            </a:r>
            <a:r>
              <a:rPr lang="en-IN" dirty="0"/>
              <a:t> provide a scalable microservices-based backend, while </a:t>
            </a:r>
            <a:r>
              <a:rPr lang="en-IN" b="1" dirty="0"/>
              <a:t>React.js</a:t>
            </a:r>
            <a:r>
              <a:rPr lang="en-IN" dirty="0"/>
              <a:t> provides a responsive interface.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PostgreSQL</a:t>
            </a:r>
            <a:r>
              <a:rPr lang="en-IN" dirty="0"/>
              <a:t> stores user, service, and request data securely.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Spring Security with JWT</a:t>
            </a:r>
            <a:r>
              <a:rPr lang="en-IN" dirty="0"/>
              <a:t> provides authentication and authorization.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Docker</a:t>
            </a:r>
            <a:r>
              <a:rPr lang="en-IN" dirty="0"/>
              <a:t> enables consistent deployment across different environments.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Primary goal:</a:t>
            </a:r>
            <a:r>
              <a:rPr lang="en-IN" dirty="0"/>
              <a:t> Reduce the </a:t>
            </a:r>
            <a:r>
              <a:rPr lang="en-IN" b="1" dirty="0"/>
              <a:t>time, effort, and communication gaps</a:t>
            </a:r>
            <a:r>
              <a:rPr lang="en-IN" dirty="0"/>
              <a:t> involved in finding and coordinating home repair services. </a:t>
            </a:r>
          </a:p>
        </p:txBody>
      </p:sp>
    </p:spTree>
    <p:extLst>
      <p:ext uri="{BB962C8B-B14F-4D97-AF65-F5344CB8AC3E}">
        <p14:creationId xmlns:p14="http://schemas.microsoft.com/office/powerpoint/2010/main" val="18525163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AEF2FA-32F2-6715-843F-6ACC796D05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00062CA-E93E-DFB0-5A22-1412AB9A6752}"/>
              </a:ext>
            </a:extLst>
          </p:cNvPr>
          <p:cNvSpPr txBox="1"/>
          <p:nvPr/>
        </p:nvSpPr>
        <p:spPr>
          <a:xfrm>
            <a:off x="3048000" y="600078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Problem Gap Identification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777B92A-0C12-D39A-8847-98719E7B6F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2D564FF-C061-7B3C-9643-D9A201B767F0}"/>
              </a:ext>
            </a:extLst>
          </p:cNvPr>
          <p:cNvSpPr txBox="1"/>
          <p:nvPr/>
        </p:nvSpPr>
        <p:spPr>
          <a:xfrm>
            <a:off x="491612" y="1325315"/>
            <a:ext cx="11405419" cy="42073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Existing home repair service methods mainly depend on manual searching, phone calls, messaging, and scattered service information. 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They often lack intelligent understanding of user requirements, making it difficult to identify the most suitable service provider quickly. 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There is also a gap in real-time communication, service request tracking, and automated coordination between users and providers. 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Most traditional approaches do not provide an integrated solution that combines </a:t>
            </a:r>
            <a:r>
              <a:rPr lang="en-IN" b="1" dirty="0"/>
              <a:t>AI-based service recommendation, real-time event processing, secure access, and scalable service coordination</a:t>
            </a:r>
            <a:r>
              <a:rPr lang="en-IN" dirty="0"/>
              <a:t>. 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 err="1"/>
              <a:t>Fixora</a:t>
            </a:r>
            <a:r>
              <a:rPr lang="en-IN" b="1" dirty="0"/>
              <a:t> AI</a:t>
            </a:r>
            <a:r>
              <a:rPr lang="en-IN" dirty="0"/>
              <a:t> aims to bridge this gap by providing an intelligent and responsive system that simplifies service discovery, improves coordination, and reduces the time and effort required to obtain home repair services.</a:t>
            </a:r>
          </a:p>
        </p:txBody>
      </p:sp>
    </p:spTree>
    <p:extLst>
      <p:ext uri="{BB962C8B-B14F-4D97-AF65-F5344CB8AC3E}">
        <p14:creationId xmlns:p14="http://schemas.microsoft.com/office/powerpoint/2010/main" val="20658760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BC6D84-077B-7007-4B63-807557EC63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4387226-F29E-0041-5581-4EF07C7198F1}"/>
              </a:ext>
            </a:extLst>
          </p:cNvPr>
          <p:cNvSpPr txBox="1"/>
          <p:nvPr/>
        </p:nvSpPr>
        <p:spPr>
          <a:xfrm>
            <a:off x="1893060" y="32615"/>
            <a:ext cx="840587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Innovation, Creativity, and Novelty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BC5F926-1E4C-4031-B9E9-6A17F126A3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0007D85-97FC-67CD-3558-ED4C7FC3AA57}"/>
              </a:ext>
            </a:extLst>
          </p:cNvPr>
          <p:cNvSpPr txBox="1"/>
          <p:nvPr/>
        </p:nvSpPr>
        <p:spPr>
          <a:xfrm>
            <a:off x="147285" y="622550"/>
            <a:ext cx="12044715" cy="62848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 err="1"/>
              <a:t>Fixora</a:t>
            </a:r>
            <a:r>
              <a:rPr lang="en-IN" b="1" dirty="0"/>
              <a:t> AI</a:t>
            </a:r>
            <a:r>
              <a:rPr lang="en-IN" dirty="0"/>
              <a:t> provides an intelligent approach to discovering and coordinating home repair and maintenance services.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Spring AI and LLM APIs</a:t>
            </a:r>
            <a:r>
              <a:rPr lang="en-IN" dirty="0"/>
              <a:t> understand user problems in </a:t>
            </a:r>
            <a:r>
              <a:rPr lang="en-IN" b="1" dirty="0"/>
              <a:t>natural language</a:t>
            </a:r>
            <a:r>
              <a:rPr lang="en-IN" dirty="0"/>
              <a:t> and identify the most relevant service category.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Users can describe their issues in simple terms instead of selecting from complex service categories, </a:t>
            </a:r>
            <a:r>
              <a:rPr lang="en-IN" b="1" dirty="0"/>
              <a:t>reducing search effort and confusion</a:t>
            </a:r>
            <a:r>
              <a:rPr lang="en-IN" dirty="0"/>
              <a:t>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Apache Kafka</a:t>
            </a:r>
            <a:r>
              <a:rPr lang="en-IN" dirty="0"/>
              <a:t> enables real-time processing of service requests, provider responses, notifications, and status updates.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Spring Boot and Spring Cloud</a:t>
            </a:r>
            <a:r>
              <a:rPr lang="en-IN" dirty="0"/>
              <a:t> provide a </a:t>
            </a:r>
            <a:r>
              <a:rPr lang="en-IN" b="1" dirty="0"/>
              <a:t>modular and scalable microservices architecture</a:t>
            </a:r>
            <a:r>
              <a:rPr lang="en-IN" dirty="0"/>
              <a:t>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React.js</a:t>
            </a:r>
            <a:r>
              <a:rPr lang="en-IN" dirty="0"/>
              <a:t> offers a responsive and user-friendly interface, while </a:t>
            </a:r>
            <a:r>
              <a:rPr lang="en-IN" b="1" dirty="0"/>
              <a:t>PostgreSQL</a:t>
            </a:r>
            <a:r>
              <a:rPr lang="en-IN" dirty="0"/>
              <a:t> manages service and user data.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A key innovation is the combination of </a:t>
            </a:r>
            <a:r>
              <a:rPr lang="en-IN" b="1" dirty="0"/>
              <a:t>AI-driven problem understanding with event-driven service coordination</a:t>
            </a:r>
            <a:r>
              <a:rPr lang="en-IN" dirty="0"/>
              <a:t>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Unlike a basic service-listing platform, </a:t>
            </a:r>
            <a:r>
              <a:rPr lang="en-IN" dirty="0" err="1"/>
              <a:t>Fixora</a:t>
            </a:r>
            <a:r>
              <a:rPr lang="en-IN" dirty="0"/>
              <a:t> AI supports the process from </a:t>
            </a:r>
            <a:r>
              <a:rPr lang="en-IN" b="1" dirty="0"/>
              <a:t>understanding the user's problem to service completion</a:t>
            </a:r>
            <a:r>
              <a:rPr lang="en-IN" dirty="0"/>
              <a:t>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Spring Security with JWT</a:t>
            </a:r>
            <a:r>
              <a:rPr lang="en-IN" dirty="0"/>
              <a:t> ensures secure authentication and authorization.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Docker</a:t>
            </a:r>
            <a:r>
              <a:rPr lang="en-IN" dirty="0"/>
              <a:t> enables consistent and simplified deployment across different environments.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241353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8AA2CC-2C9A-D968-2F38-FFC4A7D238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EF7CE10-08D9-83CF-7508-12575531E1E0}"/>
              </a:ext>
            </a:extLst>
          </p:cNvPr>
          <p:cNvSpPr txBox="1"/>
          <p:nvPr/>
        </p:nvSpPr>
        <p:spPr>
          <a:xfrm>
            <a:off x="2349909" y="0"/>
            <a:ext cx="723401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dirty="0"/>
              <a:t>Feasibility and Project Plan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971D25F-D310-56FA-A58E-B7B79C7D85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A478936-B5E5-6DF4-BD3C-DDD75DCAA9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3340560"/>
              </p:ext>
            </p:extLst>
          </p:nvPr>
        </p:nvGraphicFramePr>
        <p:xfrm>
          <a:off x="627998" y="802460"/>
          <a:ext cx="11229705" cy="5745825"/>
        </p:xfrm>
        <a:graphic>
          <a:graphicData uri="http://schemas.openxmlformats.org/drawingml/2006/table">
            <a:tbl>
              <a:tblPr/>
              <a:tblGrid>
                <a:gridCol w="1247745">
                  <a:extLst>
                    <a:ext uri="{9D8B030D-6E8A-4147-A177-3AD203B41FA5}">
                      <a16:colId xmlns:a16="http://schemas.microsoft.com/office/drawing/2014/main" val="1077906474"/>
                    </a:ext>
                  </a:extLst>
                </a:gridCol>
                <a:gridCol w="1247745">
                  <a:extLst>
                    <a:ext uri="{9D8B030D-6E8A-4147-A177-3AD203B41FA5}">
                      <a16:colId xmlns:a16="http://schemas.microsoft.com/office/drawing/2014/main" val="1200585070"/>
                    </a:ext>
                  </a:extLst>
                </a:gridCol>
                <a:gridCol w="1247745">
                  <a:extLst>
                    <a:ext uri="{9D8B030D-6E8A-4147-A177-3AD203B41FA5}">
                      <a16:colId xmlns:a16="http://schemas.microsoft.com/office/drawing/2014/main" val="2123803139"/>
                    </a:ext>
                  </a:extLst>
                </a:gridCol>
                <a:gridCol w="1247745">
                  <a:extLst>
                    <a:ext uri="{9D8B030D-6E8A-4147-A177-3AD203B41FA5}">
                      <a16:colId xmlns:a16="http://schemas.microsoft.com/office/drawing/2014/main" val="3001608806"/>
                    </a:ext>
                  </a:extLst>
                </a:gridCol>
                <a:gridCol w="1247745">
                  <a:extLst>
                    <a:ext uri="{9D8B030D-6E8A-4147-A177-3AD203B41FA5}">
                      <a16:colId xmlns:a16="http://schemas.microsoft.com/office/drawing/2014/main" val="2259974403"/>
                    </a:ext>
                  </a:extLst>
                </a:gridCol>
                <a:gridCol w="1247745">
                  <a:extLst>
                    <a:ext uri="{9D8B030D-6E8A-4147-A177-3AD203B41FA5}">
                      <a16:colId xmlns:a16="http://schemas.microsoft.com/office/drawing/2014/main" val="3033054786"/>
                    </a:ext>
                  </a:extLst>
                </a:gridCol>
                <a:gridCol w="1247745">
                  <a:extLst>
                    <a:ext uri="{9D8B030D-6E8A-4147-A177-3AD203B41FA5}">
                      <a16:colId xmlns:a16="http://schemas.microsoft.com/office/drawing/2014/main" val="111129975"/>
                    </a:ext>
                  </a:extLst>
                </a:gridCol>
                <a:gridCol w="1247745">
                  <a:extLst>
                    <a:ext uri="{9D8B030D-6E8A-4147-A177-3AD203B41FA5}">
                      <a16:colId xmlns:a16="http://schemas.microsoft.com/office/drawing/2014/main" val="3195710394"/>
                    </a:ext>
                  </a:extLst>
                </a:gridCol>
                <a:gridCol w="1247745">
                  <a:extLst>
                    <a:ext uri="{9D8B030D-6E8A-4147-A177-3AD203B41FA5}">
                      <a16:colId xmlns:a16="http://schemas.microsoft.com/office/drawing/2014/main" val="3036222458"/>
                    </a:ext>
                  </a:extLst>
                </a:gridCol>
              </a:tblGrid>
              <a:tr h="3559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Phase</a:t>
                      </a:r>
                    </a:p>
                  </a:txBody>
                  <a:tcPr marL="38507" marR="38507" marT="19254" marB="19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800"/>
                        <a:t>Week 1–2</a:t>
                      </a:r>
                    </a:p>
                  </a:txBody>
                  <a:tcPr marL="38507" marR="38507" marT="19254" marB="19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800"/>
                        <a:t>Week 3–4</a:t>
                      </a:r>
                    </a:p>
                  </a:txBody>
                  <a:tcPr marL="38507" marR="38507" marT="19254" marB="19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800"/>
                        <a:t>Week 5–6</a:t>
                      </a:r>
                    </a:p>
                  </a:txBody>
                  <a:tcPr marL="38507" marR="38507" marT="19254" marB="19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800"/>
                        <a:t>Week 7–8</a:t>
                      </a:r>
                    </a:p>
                  </a:txBody>
                  <a:tcPr marL="38507" marR="38507" marT="19254" marB="19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800"/>
                        <a:t>Week 9–10</a:t>
                      </a:r>
                    </a:p>
                  </a:txBody>
                  <a:tcPr marL="38507" marR="38507" marT="19254" marB="19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800"/>
                        <a:t>Week 11–12</a:t>
                      </a:r>
                    </a:p>
                  </a:txBody>
                  <a:tcPr marL="38507" marR="38507" marT="19254" marB="19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800"/>
                        <a:t>Week 13–14</a:t>
                      </a:r>
                    </a:p>
                  </a:txBody>
                  <a:tcPr marL="38507" marR="38507" marT="19254" marB="19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800"/>
                        <a:t>Week 15–16</a:t>
                      </a:r>
                    </a:p>
                  </a:txBody>
                  <a:tcPr marL="38507" marR="38507" marT="19254" marB="19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2037478"/>
                  </a:ext>
                </a:extLst>
              </a:tr>
              <a:tr h="5084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Requirement Analysis</a:t>
                      </a:r>
                    </a:p>
                  </a:txBody>
                  <a:tcPr marL="38507" marR="38507" marT="19254" marB="19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800"/>
                        <a:t>███</a:t>
                      </a:r>
                    </a:p>
                  </a:txBody>
                  <a:tcPr marL="38507" marR="38507" marT="19254" marB="19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 sz="800" dirty="0"/>
                    </a:p>
                  </a:txBody>
                  <a:tcPr marL="38507" marR="38507" marT="19254" marB="19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 sz="800"/>
                    </a:p>
                  </a:txBody>
                  <a:tcPr marL="38507" marR="38507" marT="19254" marB="19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 sz="800"/>
                    </a:p>
                  </a:txBody>
                  <a:tcPr marL="38507" marR="38507" marT="19254" marB="19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 sz="800"/>
                    </a:p>
                  </a:txBody>
                  <a:tcPr marL="38507" marR="38507" marT="19254" marB="19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 sz="800"/>
                    </a:p>
                  </a:txBody>
                  <a:tcPr marL="38507" marR="38507" marT="19254" marB="19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 sz="800"/>
                    </a:p>
                  </a:txBody>
                  <a:tcPr marL="38507" marR="38507" marT="19254" marB="19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 sz="800"/>
                    </a:p>
                  </a:txBody>
                  <a:tcPr marL="38507" marR="38507" marT="19254" marB="19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4483694"/>
                  </a:ext>
                </a:extLst>
              </a:tr>
              <a:tr h="3559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System Design</a:t>
                      </a:r>
                    </a:p>
                  </a:txBody>
                  <a:tcPr marL="38507" marR="38507" marT="19254" marB="19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 sz="800"/>
                    </a:p>
                  </a:txBody>
                  <a:tcPr marL="38507" marR="38507" marT="19254" marB="19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800"/>
                        <a:t>███</a:t>
                      </a:r>
                    </a:p>
                  </a:txBody>
                  <a:tcPr marL="38507" marR="38507" marT="19254" marB="19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 sz="800"/>
                    </a:p>
                  </a:txBody>
                  <a:tcPr marL="38507" marR="38507" marT="19254" marB="19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 sz="800"/>
                    </a:p>
                  </a:txBody>
                  <a:tcPr marL="38507" marR="38507" marT="19254" marB="19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 sz="800"/>
                    </a:p>
                  </a:txBody>
                  <a:tcPr marL="38507" marR="38507" marT="19254" marB="19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 sz="800"/>
                    </a:p>
                  </a:txBody>
                  <a:tcPr marL="38507" marR="38507" marT="19254" marB="19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 sz="800"/>
                    </a:p>
                  </a:txBody>
                  <a:tcPr marL="38507" marR="38507" marT="19254" marB="19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 sz="800"/>
                    </a:p>
                  </a:txBody>
                  <a:tcPr marL="38507" marR="38507" marT="19254" marB="19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7265592"/>
                  </a:ext>
                </a:extLst>
              </a:tr>
              <a:tr h="5084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Backend Development</a:t>
                      </a:r>
                    </a:p>
                  </a:txBody>
                  <a:tcPr marL="38507" marR="38507" marT="19254" marB="19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 sz="800"/>
                    </a:p>
                  </a:txBody>
                  <a:tcPr marL="38507" marR="38507" marT="19254" marB="19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800"/>
                        <a:t>███</a:t>
                      </a:r>
                    </a:p>
                  </a:txBody>
                  <a:tcPr marL="38507" marR="38507" marT="19254" marB="19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800"/>
                        <a:t>███</a:t>
                      </a:r>
                    </a:p>
                  </a:txBody>
                  <a:tcPr marL="38507" marR="38507" marT="19254" marB="19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800"/>
                        <a:t>███</a:t>
                      </a:r>
                    </a:p>
                  </a:txBody>
                  <a:tcPr marL="38507" marR="38507" marT="19254" marB="19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 sz="800"/>
                    </a:p>
                  </a:txBody>
                  <a:tcPr marL="38507" marR="38507" marT="19254" marB="19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 sz="800"/>
                    </a:p>
                  </a:txBody>
                  <a:tcPr marL="38507" marR="38507" marT="19254" marB="19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 sz="800"/>
                    </a:p>
                  </a:txBody>
                  <a:tcPr marL="38507" marR="38507" marT="19254" marB="19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 sz="800"/>
                    </a:p>
                  </a:txBody>
                  <a:tcPr marL="38507" marR="38507" marT="19254" marB="19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8849951"/>
                  </a:ext>
                </a:extLst>
              </a:tr>
              <a:tr h="5084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AI/LLM Integration</a:t>
                      </a:r>
                    </a:p>
                  </a:txBody>
                  <a:tcPr marL="38507" marR="38507" marT="19254" marB="19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 sz="800"/>
                    </a:p>
                  </a:txBody>
                  <a:tcPr marL="38507" marR="38507" marT="19254" marB="19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 sz="800"/>
                    </a:p>
                  </a:txBody>
                  <a:tcPr marL="38507" marR="38507" marT="19254" marB="19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 sz="800"/>
                    </a:p>
                  </a:txBody>
                  <a:tcPr marL="38507" marR="38507" marT="19254" marB="19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800"/>
                        <a:t>███</a:t>
                      </a:r>
                    </a:p>
                  </a:txBody>
                  <a:tcPr marL="38507" marR="38507" marT="19254" marB="19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800" dirty="0"/>
                        <a:t>███</a:t>
                      </a:r>
                    </a:p>
                  </a:txBody>
                  <a:tcPr marL="38507" marR="38507" marT="19254" marB="19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 sz="800"/>
                    </a:p>
                  </a:txBody>
                  <a:tcPr marL="38507" marR="38507" marT="19254" marB="19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 sz="800"/>
                    </a:p>
                  </a:txBody>
                  <a:tcPr marL="38507" marR="38507" marT="19254" marB="19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 sz="800"/>
                    </a:p>
                  </a:txBody>
                  <a:tcPr marL="38507" marR="38507" marT="19254" marB="19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7952367"/>
                  </a:ext>
                </a:extLst>
              </a:tr>
              <a:tr h="5084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Kafka Integration</a:t>
                      </a:r>
                    </a:p>
                  </a:txBody>
                  <a:tcPr marL="38507" marR="38507" marT="19254" marB="19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 sz="800"/>
                    </a:p>
                  </a:txBody>
                  <a:tcPr marL="38507" marR="38507" marT="19254" marB="19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 sz="800"/>
                    </a:p>
                  </a:txBody>
                  <a:tcPr marL="38507" marR="38507" marT="19254" marB="19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 sz="800"/>
                    </a:p>
                  </a:txBody>
                  <a:tcPr marL="38507" marR="38507" marT="19254" marB="19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800"/>
                        <a:t>███</a:t>
                      </a:r>
                    </a:p>
                  </a:txBody>
                  <a:tcPr marL="38507" marR="38507" marT="19254" marB="19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800"/>
                        <a:t>███</a:t>
                      </a:r>
                    </a:p>
                  </a:txBody>
                  <a:tcPr marL="38507" marR="38507" marT="19254" marB="19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 sz="800"/>
                    </a:p>
                  </a:txBody>
                  <a:tcPr marL="38507" marR="38507" marT="19254" marB="19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 sz="800"/>
                    </a:p>
                  </a:txBody>
                  <a:tcPr marL="38507" marR="38507" marT="19254" marB="19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 sz="800"/>
                    </a:p>
                  </a:txBody>
                  <a:tcPr marL="38507" marR="38507" marT="19254" marB="19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5818433"/>
                  </a:ext>
                </a:extLst>
              </a:tr>
              <a:tr h="5084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Frontend Development</a:t>
                      </a:r>
                    </a:p>
                  </a:txBody>
                  <a:tcPr marL="38507" marR="38507" marT="19254" marB="19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 sz="800"/>
                    </a:p>
                  </a:txBody>
                  <a:tcPr marL="38507" marR="38507" marT="19254" marB="19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 sz="800"/>
                    </a:p>
                  </a:txBody>
                  <a:tcPr marL="38507" marR="38507" marT="19254" marB="19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800"/>
                        <a:t>███</a:t>
                      </a:r>
                    </a:p>
                  </a:txBody>
                  <a:tcPr marL="38507" marR="38507" marT="19254" marB="19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800"/>
                        <a:t>███</a:t>
                      </a:r>
                    </a:p>
                  </a:txBody>
                  <a:tcPr marL="38507" marR="38507" marT="19254" marB="19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800"/>
                        <a:t>███</a:t>
                      </a:r>
                    </a:p>
                  </a:txBody>
                  <a:tcPr marL="38507" marR="38507" marT="19254" marB="19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 sz="800" dirty="0"/>
                    </a:p>
                  </a:txBody>
                  <a:tcPr marL="38507" marR="38507" marT="19254" marB="19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 sz="800"/>
                    </a:p>
                  </a:txBody>
                  <a:tcPr marL="38507" marR="38507" marT="19254" marB="19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 sz="800"/>
                    </a:p>
                  </a:txBody>
                  <a:tcPr marL="38507" marR="38507" marT="19254" marB="19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3163300"/>
                  </a:ext>
                </a:extLst>
              </a:tr>
              <a:tr h="5084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Security Implementation</a:t>
                      </a:r>
                    </a:p>
                  </a:txBody>
                  <a:tcPr marL="38507" marR="38507" marT="19254" marB="19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 sz="800"/>
                    </a:p>
                  </a:txBody>
                  <a:tcPr marL="38507" marR="38507" marT="19254" marB="19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 sz="800"/>
                    </a:p>
                  </a:txBody>
                  <a:tcPr marL="38507" marR="38507" marT="19254" marB="19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 sz="800"/>
                    </a:p>
                  </a:txBody>
                  <a:tcPr marL="38507" marR="38507" marT="19254" marB="19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 sz="800"/>
                    </a:p>
                  </a:txBody>
                  <a:tcPr marL="38507" marR="38507" marT="19254" marB="19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800"/>
                        <a:t>███</a:t>
                      </a:r>
                    </a:p>
                  </a:txBody>
                  <a:tcPr marL="38507" marR="38507" marT="19254" marB="19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 sz="800"/>
                    </a:p>
                  </a:txBody>
                  <a:tcPr marL="38507" marR="38507" marT="19254" marB="19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 sz="800"/>
                    </a:p>
                  </a:txBody>
                  <a:tcPr marL="38507" marR="38507" marT="19254" marB="19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 sz="800"/>
                    </a:p>
                  </a:txBody>
                  <a:tcPr marL="38507" marR="38507" marT="19254" marB="19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3519564"/>
                  </a:ext>
                </a:extLst>
              </a:tr>
              <a:tr h="5084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Testing &amp; Integration</a:t>
                      </a:r>
                    </a:p>
                  </a:txBody>
                  <a:tcPr marL="38507" marR="38507" marT="19254" marB="19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 sz="800"/>
                    </a:p>
                  </a:txBody>
                  <a:tcPr marL="38507" marR="38507" marT="19254" marB="19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 sz="800"/>
                    </a:p>
                  </a:txBody>
                  <a:tcPr marL="38507" marR="38507" marT="19254" marB="19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 sz="800"/>
                    </a:p>
                  </a:txBody>
                  <a:tcPr marL="38507" marR="38507" marT="19254" marB="19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 sz="800"/>
                    </a:p>
                  </a:txBody>
                  <a:tcPr marL="38507" marR="38507" marT="19254" marB="19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 sz="800"/>
                    </a:p>
                  </a:txBody>
                  <a:tcPr marL="38507" marR="38507" marT="19254" marB="19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800"/>
                        <a:t>███</a:t>
                      </a:r>
                    </a:p>
                  </a:txBody>
                  <a:tcPr marL="38507" marR="38507" marT="19254" marB="19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800"/>
                        <a:t>███</a:t>
                      </a:r>
                    </a:p>
                  </a:txBody>
                  <a:tcPr marL="38507" marR="38507" marT="19254" marB="19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 sz="800"/>
                    </a:p>
                  </a:txBody>
                  <a:tcPr marL="38507" marR="38507" marT="19254" marB="19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2158448"/>
                  </a:ext>
                </a:extLst>
              </a:tr>
              <a:tr h="6610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Dockerization &amp; Deployment</a:t>
                      </a:r>
                    </a:p>
                  </a:txBody>
                  <a:tcPr marL="38507" marR="38507" marT="19254" marB="19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 sz="800"/>
                    </a:p>
                  </a:txBody>
                  <a:tcPr marL="38507" marR="38507" marT="19254" marB="19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 sz="800"/>
                    </a:p>
                  </a:txBody>
                  <a:tcPr marL="38507" marR="38507" marT="19254" marB="19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 sz="800"/>
                    </a:p>
                  </a:txBody>
                  <a:tcPr marL="38507" marR="38507" marT="19254" marB="19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 sz="800"/>
                    </a:p>
                  </a:txBody>
                  <a:tcPr marL="38507" marR="38507" marT="19254" marB="19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 sz="800"/>
                    </a:p>
                  </a:txBody>
                  <a:tcPr marL="38507" marR="38507" marT="19254" marB="19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 sz="800"/>
                    </a:p>
                  </a:txBody>
                  <a:tcPr marL="38507" marR="38507" marT="19254" marB="19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800"/>
                        <a:t>███</a:t>
                      </a:r>
                    </a:p>
                  </a:txBody>
                  <a:tcPr marL="38507" marR="38507" marT="19254" marB="19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 sz="800"/>
                    </a:p>
                  </a:txBody>
                  <a:tcPr marL="38507" marR="38507" marT="19254" marB="19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2996395"/>
                  </a:ext>
                </a:extLst>
              </a:tr>
              <a:tr h="8135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/>
                        <a:t>Documentation &amp; Final Evaluation</a:t>
                      </a:r>
                    </a:p>
                  </a:txBody>
                  <a:tcPr marL="38507" marR="38507" marT="19254" marB="19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 sz="800"/>
                    </a:p>
                  </a:txBody>
                  <a:tcPr marL="38507" marR="38507" marT="19254" marB="19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 sz="800"/>
                    </a:p>
                  </a:txBody>
                  <a:tcPr marL="38507" marR="38507" marT="19254" marB="19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 sz="800"/>
                    </a:p>
                  </a:txBody>
                  <a:tcPr marL="38507" marR="38507" marT="19254" marB="19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 sz="800"/>
                    </a:p>
                  </a:txBody>
                  <a:tcPr marL="38507" marR="38507" marT="19254" marB="19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 sz="800"/>
                    </a:p>
                  </a:txBody>
                  <a:tcPr marL="38507" marR="38507" marT="19254" marB="19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 sz="800"/>
                    </a:p>
                  </a:txBody>
                  <a:tcPr marL="38507" marR="38507" marT="19254" marB="19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 sz="800"/>
                    </a:p>
                  </a:txBody>
                  <a:tcPr marL="38507" marR="38507" marT="19254" marB="19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800" dirty="0"/>
                        <a:t>███</a:t>
                      </a:r>
                    </a:p>
                  </a:txBody>
                  <a:tcPr marL="38507" marR="38507" marT="19254" marB="192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37101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188552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BFCEB68-E932-C4F7-9D8A-6EFAE16747C1}"/>
              </a:ext>
            </a:extLst>
          </p:cNvPr>
          <p:cNvSpPr txBox="1"/>
          <p:nvPr/>
        </p:nvSpPr>
        <p:spPr>
          <a:xfrm>
            <a:off x="2728449" y="-121207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Conclusion &amp; Future Work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FA1A0E0-75DD-BC4F-04E1-2B75EFE93D00}"/>
              </a:ext>
            </a:extLst>
          </p:cNvPr>
          <p:cNvSpPr txBox="1"/>
          <p:nvPr/>
        </p:nvSpPr>
        <p:spPr>
          <a:xfrm>
            <a:off x="231057" y="225637"/>
            <a:ext cx="12078929" cy="75713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b="1" dirty="0"/>
              <a:t>Conclusion</a:t>
            </a:r>
          </a:p>
          <a:p>
            <a:pPr>
              <a:lnSpc>
                <a:spcPct val="150000"/>
              </a:lnSpc>
              <a:buNone/>
            </a:pPr>
            <a:r>
              <a:rPr lang="en-IN" dirty="0" err="1"/>
              <a:t>Fixora</a:t>
            </a:r>
            <a:r>
              <a:rPr lang="en-IN" dirty="0"/>
              <a:t> AI provides an intelligent and scalable solution for simplifying home repair and maintenance service discovery and coordination. The system combines </a:t>
            </a:r>
            <a:r>
              <a:rPr lang="en-IN" b="1" dirty="0"/>
              <a:t>Spring Boot, Spring Cloud, Spring AI, LLM APIs, Apache Kafka, React.js, PostgreSQL, Spring Security with JWT, and Docker</a:t>
            </a:r>
            <a:r>
              <a:rPr lang="en-IN" dirty="0"/>
              <a:t> to create a secure and responsive platform.</a:t>
            </a:r>
          </a:p>
          <a:p>
            <a:pPr>
              <a:lnSpc>
                <a:spcPct val="150000"/>
              </a:lnSpc>
              <a:buNone/>
            </a:pPr>
            <a:r>
              <a:rPr lang="en-IN" dirty="0"/>
              <a:t>By using AI to understand user requirements and recommend suitable services, </a:t>
            </a:r>
            <a:r>
              <a:rPr lang="en-IN" dirty="0" err="1"/>
              <a:t>Fixora</a:t>
            </a:r>
            <a:r>
              <a:rPr lang="en-IN" dirty="0"/>
              <a:t> AI reduces the time and effort required to find appropriate service providers. Apache Kafka enables real-time event processing and communication, while the microservices architecture supports scalability and flexibility. Overall, the proposed system aims to improve coordination, reduce delays, and provide a better service experience for both customers and service providers.</a:t>
            </a:r>
          </a:p>
          <a:p>
            <a:pPr>
              <a:lnSpc>
                <a:spcPct val="150000"/>
              </a:lnSpc>
              <a:buNone/>
            </a:pPr>
            <a:r>
              <a:rPr lang="en-IN" b="1" dirty="0"/>
              <a:t>Future Work</a:t>
            </a:r>
          </a:p>
          <a:p>
            <a:pPr>
              <a:lnSpc>
                <a:spcPct val="150000"/>
              </a:lnSpc>
              <a:buNone/>
            </a:pPr>
            <a:r>
              <a:rPr lang="en-IN" dirty="0"/>
              <a:t>The system can be further enhanced with:</a:t>
            </a: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</a:pPr>
            <a:r>
              <a:rPr lang="en-IN" b="1" dirty="0"/>
              <a:t>AI-powered predictive maintenance</a:t>
            </a:r>
            <a:r>
              <a:rPr lang="en-IN" dirty="0"/>
              <a:t> – Predict potential household repair requirements based on previous service history. </a:t>
            </a: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</a:pPr>
            <a:r>
              <a:rPr lang="en-IN" b="1" dirty="0"/>
              <a:t>Voice-based service requests</a:t>
            </a:r>
            <a:r>
              <a:rPr lang="en-IN" dirty="0"/>
              <a:t> – Allow users to describe their problems through voice commands. </a:t>
            </a: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</a:pPr>
            <a:r>
              <a:rPr lang="en-IN" b="1" dirty="0"/>
              <a:t>Location-based provider matching</a:t>
            </a:r>
            <a:r>
              <a:rPr lang="en-IN" dirty="0"/>
              <a:t> – Recommend service providers based on distance, availability, ratings, and expertise. </a:t>
            </a: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</a:pPr>
            <a:r>
              <a:rPr lang="en-IN" b="1" dirty="0"/>
              <a:t>Real-time tracking</a:t>
            </a:r>
            <a:r>
              <a:rPr lang="en-IN" dirty="0"/>
              <a:t> – Enable users to track the service provider's arrival and service progress. </a:t>
            </a:r>
          </a:p>
          <a:p>
            <a:pPr lvl="0"/>
            <a:endParaRPr lang="en-IN" dirty="0"/>
          </a:p>
          <a:p>
            <a:pPr>
              <a:buNone/>
            </a:pPr>
            <a:br>
              <a:rPr lang="en-IN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245295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6E77906-66E5-200F-01FF-82F78D84F83F}"/>
              </a:ext>
            </a:extLst>
          </p:cNvPr>
          <p:cNvSpPr txBox="1"/>
          <p:nvPr/>
        </p:nvSpPr>
        <p:spPr>
          <a:xfrm>
            <a:off x="2639959" y="338311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References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255C79A-E4D3-1F99-8AAD-81CB2CC3C7D2}"/>
              </a:ext>
            </a:extLst>
          </p:cNvPr>
          <p:cNvSpPr txBox="1"/>
          <p:nvPr/>
        </p:nvSpPr>
        <p:spPr>
          <a:xfrm>
            <a:off x="599768" y="1165147"/>
            <a:ext cx="11503742" cy="42073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Spring Boot Documentation. </a:t>
            </a:r>
            <a:r>
              <a:rPr lang="en-IN" i="1" dirty="0"/>
              <a:t>Spring Boot Reference Documentation</a:t>
            </a:r>
            <a:r>
              <a:rPr lang="en-IN" dirty="0"/>
              <a:t>. </a:t>
            </a:r>
            <a:r>
              <a:rPr lang="en-IN" dirty="0">
                <a:hlinkClick r:id="rId2"/>
              </a:rPr>
              <a:t>Spring Boot Documentation</a:t>
            </a:r>
            <a:r>
              <a:rPr lang="en-IN" dirty="0"/>
              <a:t>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Spring Cloud Documentation. </a:t>
            </a:r>
            <a:r>
              <a:rPr lang="en-IN" i="1" dirty="0"/>
              <a:t>Spring Cloud Reference Documentation</a:t>
            </a:r>
            <a:r>
              <a:rPr lang="en-IN" dirty="0"/>
              <a:t>. </a:t>
            </a:r>
            <a:r>
              <a:rPr lang="en-IN" dirty="0">
                <a:hlinkClick r:id="rId3"/>
              </a:rPr>
              <a:t>Spring Cloud Documentation</a:t>
            </a:r>
            <a:r>
              <a:rPr lang="en-IN" dirty="0"/>
              <a:t>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Spring AI Documentation. </a:t>
            </a:r>
            <a:r>
              <a:rPr lang="en-IN" i="1" dirty="0"/>
              <a:t>Spring AI Reference Documentation</a:t>
            </a:r>
            <a:r>
              <a:rPr lang="en-IN" dirty="0"/>
              <a:t>. </a:t>
            </a:r>
            <a:r>
              <a:rPr lang="en-IN" dirty="0">
                <a:hlinkClick r:id="rId4"/>
              </a:rPr>
              <a:t>Spring AI Documentation</a:t>
            </a:r>
            <a:r>
              <a:rPr lang="en-IN" dirty="0"/>
              <a:t>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Apache Kafka Documentation. </a:t>
            </a:r>
            <a:r>
              <a:rPr lang="en-IN" i="1" dirty="0"/>
              <a:t>Apache Kafka Documentation</a:t>
            </a:r>
            <a:r>
              <a:rPr lang="en-IN" dirty="0"/>
              <a:t>. </a:t>
            </a:r>
            <a:r>
              <a:rPr lang="en-IN" dirty="0">
                <a:hlinkClick r:id="rId5"/>
              </a:rPr>
              <a:t>Apache Kafka Documentation</a:t>
            </a:r>
            <a:r>
              <a:rPr lang="en-IN" dirty="0"/>
              <a:t>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React Documentation. </a:t>
            </a:r>
            <a:r>
              <a:rPr lang="en-IN" i="1" dirty="0"/>
              <a:t>React – The Library for Web and Native User Interfaces</a:t>
            </a:r>
            <a:r>
              <a:rPr lang="en-IN" dirty="0"/>
              <a:t>. </a:t>
            </a:r>
            <a:r>
              <a:rPr lang="en-IN" dirty="0">
                <a:hlinkClick r:id="rId6"/>
              </a:rPr>
              <a:t>React Documentation</a:t>
            </a:r>
            <a:r>
              <a:rPr lang="en-IN" dirty="0"/>
              <a:t>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PostgreSQL Documentation. </a:t>
            </a:r>
            <a:r>
              <a:rPr lang="en-IN" i="1" dirty="0"/>
              <a:t>PostgreSQL Official Documentation</a:t>
            </a:r>
            <a:r>
              <a:rPr lang="en-IN" dirty="0"/>
              <a:t>. </a:t>
            </a:r>
            <a:r>
              <a:rPr lang="en-IN" dirty="0">
                <a:hlinkClick r:id="rId7"/>
              </a:rPr>
              <a:t>PostgreSQL Documentation</a:t>
            </a:r>
            <a:r>
              <a:rPr lang="en-IN" dirty="0"/>
              <a:t>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Spring Security Documentation. </a:t>
            </a:r>
            <a:r>
              <a:rPr lang="en-IN" i="1" dirty="0"/>
              <a:t>Spring Security Reference</a:t>
            </a:r>
            <a:r>
              <a:rPr lang="en-IN" dirty="0"/>
              <a:t>. </a:t>
            </a:r>
            <a:r>
              <a:rPr lang="en-IN" dirty="0">
                <a:hlinkClick r:id="rId8"/>
              </a:rPr>
              <a:t>Spring Security Documentation</a:t>
            </a:r>
            <a:r>
              <a:rPr lang="en-IN" dirty="0"/>
              <a:t>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Docker Documentation. </a:t>
            </a:r>
            <a:r>
              <a:rPr lang="en-IN" i="1" dirty="0"/>
              <a:t>Docker Documentation</a:t>
            </a:r>
            <a:r>
              <a:rPr lang="en-IN" dirty="0"/>
              <a:t>. </a:t>
            </a:r>
            <a:r>
              <a:rPr lang="en-IN" dirty="0">
                <a:hlinkClick r:id="rId9"/>
              </a:rPr>
              <a:t>Docker Documentation</a:t>
            </a:r>
            <a:r>
              <a:rPr lang="en-IN" dirty="0"/>
              <a:t>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OpenAI. </a:t>
            </a:r>
            <a:r>
              <a:rPr lang="en-IN" i="1" dirty="0"/>
              <a:t>API Documentation</a:t>
            </a:r>
            <a:r>
              <a:rPr lang="en-IN" dirty="0"/>
              <a:t>. </a:t>
            </a:r>
            <a:r>
              <a:rPr lang="en-IN" dirty="0">
                <a:hlinkClick r:id="rId10"/>
              </a:rPr>
              <a:t>OpenAI API Documentation</a:t>
            </a:r>
            <a:r>
              <a:rPr lang="en-IN" dirty="0"/>
              <a:t>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Richardson, C. </a:t>
            </a:r>
            <a:r>
              <a:rPr lang="en-IN" i="1" dirty="0"/>
              <a:t>Microservices Patterns: With Examples in Java</a:t>
            </a:r>
            <a:r>
              <a:rPr lang="en-IN" dirty="0"/>
              <a:t>. Manning Publications, 2018.</a:t>
            </a:r>
          </a:p>
        </p:txBody>
      </p:sp>
    </p:spTree>
    <p:extLst>
      <p:ext uri="{BB962C8B-B14F-4D97-AF65-F5344CB8AC3E}">
        <p14:creationId xmlns:p14="http://schemas.microsoft.com/office/powerpoint/2010/main" val="42873574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DBF0D2A-A731-CFEF-B003-CB70C474810E}"/>
              </a:ext>
            </a:extLst>
          </p:cNvPr>
          <p:cNvSpPr txBox="1"/>
          <p:nvPr/>
        </p:nvSpPr>
        <p:spPr>
          <a:xfrm>
            <a:off x="3608438" y="2323371"/>
            <a:ext cx="694157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8000" b="1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302522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151</TotalTime>
  <Words>1933</Words>
  <Application>Microsoft Office PowerPoint</Application>
  <PresentationFormat>Widescreen</PresentationFormat>
  <Paragraphs>208</Paragraphs>
  <Slides>14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14</vt:i4>
      </vt:variant>
    </vt:vector>
  </HeadingPairs>
  <TitlesOfParts>
    <vt:vector size="22" baseType="lpstr">
      <vt:lpstr>Aptos</vt:lpstr>
      <vt:lpstr>Aptos Display</vt:lpstr>
      <vt:lpstr>Arial</vt:lpstr>
      <vt:lpstr>Calibri</vt:lpstr>
      <vt:lpstr>Calibri Light</vt:lpstr>
      <vt:lpstr>Times New Roman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srikanth ch</dc:creator>
  <cp:lastModifiedBy>Varshitha Manduri</cp:lastModifiedBy>
  <cp:revision>33</cp:revision>
  <dcterms:created xsi:type="dcterms:W3CDTF">2026-08-08T06:33:56Z</dcterms:created>
  <dcterms:modified xsi:type="dcterms:W3CDTF">2026-08-20T08:31:50Z</dcterms:modified>
</cp:coreProperties>
</file>